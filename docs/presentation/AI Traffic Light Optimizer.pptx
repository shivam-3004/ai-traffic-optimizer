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8288000" cy="10287000"/>
  <p:notesSz cx="6858000" cy="9144000"/>
  <p:embeddedFontLst>
    <p:embeddedFont>
      <p:font typeface="DM Sans" pitchFamily="2" charset="0"/>
      <p:regular r:id="rId17"/>
    </p:embeddedFont>
    <p:embeddedFont>
      <p:font typeface="DM Sans Bold" charset="0"/>
      <p:regular r:id="rId18"/>
    </p:embeddedFont>
    <p:embeddedFont>
      <p:font typeface="Glacial Indifference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4601" autoAdjust="0"/>
  </p:normalViewPr>
  <p:slideViewPr>
    <p:cSldViewPr>
      <p:cViewPr varScale="1">
        <p:scale>
          <a:sx n="67" d="100"/>
          <a:sy n="67" d="100"/>
        </p:scale>
        <p:origin x="4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87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F5BAC-CEAD-4D7E-A5D3-5B96E12CC03E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5C7E8-2EDA-441F-B155-50A119E5C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C7E8-2EDA-441F-B155-50A119E5C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0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174890" y="1583356"/>
            <a:ext cx="11876845" cy="9709321"/>
          </a:xfrm>
          <a:custGeom>
            <a:avLst/>
            <a:gdLst/>
            <a:ahLst/>
            <a:cxnLst/>
            <a:rect l="l" t="t" r="r" b="b"/>
            <a:pathLst>
              <a:path w="11876845" h="9709321">
                <a:moveTo>
                  <a:pt x="11876845" y="0"/>
                </a:moveTo>
                <a:lnTo>
                  <a:pt x="0" y="0"/>
                </a:lnTo>
                <a:lnTo>
                  <a:pt x="0" y="9709321"/>
                </a:lnTo>
                <a:lnTo>
                  <a:pt x="11876845" y="9709321"/>
                </a:lnTo>
                <a:lnTo>
                  <a:pt x="11876845" y="0"/>
                </a:lnTo>
                <a:close/>
              </a:path>
            </a:pathLst>
          </a:custGeom>
          <a:blipFill>
            <a:blip r:embed="rId2">
              <a:alphaModFix amt="8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44000" y="-5073456"/>
            <a:ext cx="10346285" cy="9596180"/>
          </a:xfrm>
          <a:custGeom>
            <a:avLst/>
            <a:gdLst/>
            <a:ahLst/>
            <a:cxnLst/>
            <a:rect l="l" t="t" r="r" b="b"/>
            <a:pathLst>
              <a:path w="10346285" h="9596180">
                <a:moveTo>
                  <a:pt x="0" y="0"/>
                </a:moveTo>
                <a:lnTo>
                  <a:pt x="10346285" y="0"/>
                </a:lnTo>
                <a:lnTo>
                  <a:pt x="10346285" y="9596180"/>
                </a:lnTo>
                <a:lnTo>
                  <a:pt x="0" y="959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85131" y="3109980"/>
            <a:ext cx="14263697" cy="332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1"/>
              </a:lnSpc>
            </a:pPr>
            <a:r>
              <a:rPr lang="en-US" sz="11863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TRAFFIC LIGHT OPTIMIZER</a:t>
            </a:r>
          </a:p>
        </p:txBody>
      </p:sp>
      <p:sp>
        <p:nvSpPr>
          <p:cNvPr id="5" name="Freeform 5"/>
          <p:cNvSpPr/>
          <p:nvPr/>
        </p:nvSpPr>
        <p:spPr>
          <a:xfrm>
            <a:off x="15447022" y="363500"/>
            <a:ext cx="2089666" cy="2439711"/>
          </a:xfrm>
          <a:custGeom>
            <a:avLst/>
            <a:gdLst/>
            <a:ahLst/>
            <a:cxnLst/>
            <a:rect l="l" t="t" r="r" b="b"/>
            <a:pathLst>
              <a:path w="2089666" h="2439711">
                <a:moveTo>
                  <a:pt x="0" y="0"/>
                </a:moveTo>
                <a:lnTo>
                  <a:pt x="2089666" y="0"/>
                </a:lnTo>
                <a:lnTo>
                  <a:pt x="2089666" y="2439711"/>
                </a:lnTo>
                <a:lnTo>
                  <a:pt x="0" y="2439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26436" y="8523991"/>
            <a:ext cx="7391438" cy="1334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80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Smart Signal Control Based on Real-Time Vehicle Count</a:t>
            </a:r>
          </a:p>
          <a:p>
            <a:pPr algn="l">
              <a:lnSpc>
                <a:spcPts val="3592"/>
              </a:lnSpc>
            </a:pPr>
            <a:r>
              <a:rPr lang="en-US" sz="280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 Stack: OpenCV + Python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475" y="537686"/>
            <a:ext cx="1728820" cy="35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</a:pPr>
            <a:r>
              <a:rPr lang="en-US" sz="258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Hackathon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82400" y="7396162"/>
            <a:ext cx="645832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DM Sans"/>
              </a:rPr>
              <a:t>Team Members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Shivam Paliwal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– Team Leader &amp; Integration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Aryan Bhandari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– Signal Logic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Aditya Tiwari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– Model Training &amp; Dataset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Mohd. Arham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– Frontend Development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Shivam Kumar Sharma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– Vehicle Counting</a:t>
            </a:r>
          </a:p>
          <a:p>
            <a:r>
              <a:rPr lang="en-US" sz="2200" b="1" dirty="0">
                <a:solidFill>
                  <a:srgbClr val="FFFFFF"/>
                </a:solidFill>
                <a:latin typeface="DM Sans"/>
              </a:rPr>
              <a:t>Gaurav Rawat – </a:t>
            </a:r>
            <a:r>
              <a:rPr lang="en-US" sz="2200" dirty="0">
                <a:solidFill>
                  <a:srgbClr val="FFFFFF"/>
                </a:solidFill>
                <a:latin typeface="DM Sans"/>
              </a:rPr>
              <a:t>Signal Hardware &amp; Circuit Design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074957" y="-2262194"/>
            <a:ext cx="7589563" cy="7039320"/>
          </a:xfrm>
          <a:custGeom>
            <a:avLst/>
            <a:gdLst/>
            <a:ahLst/>
            <a:cxnLst/>
            <a:rect l="l" t="t" r="r" b="b"/>
            <a:pathLst>
              <a:path w="7589563" h="7039320">
                <a:moveTo>
                  <a:pt x="7589563" y="0"/>
                </a:moveTo>
                <a:lnTo>
                  <a:pt x="0" y="0"/>
                </a:lnTo>
                <a:lnTo>
                  <a:pt x="0" y="7039320"/>
                </a:lnTo>
                <a:lnTo>
                  <a:pt x="7589563" y="7039320"/>
                </a:lnTo>
                <a:lnTo>
                  <a:pt x="7589563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0826211" y="2969675"/>
            <a:ext cx="11854602" cy="10995143"/>
          </a:xfrm>
          <a:custGeom>
            <a:avLst/>
            <a:gdLst/>
            <a:ahLst/>
            <a:cxnLst/>
            <a:rect l="l" t="t" r="r" b="b"/>
            <a:pathLst>
              <a:path w="11854602" h="10995143">
                <a:moveTo>
                  <a:pt x="11854602" y="0"/>
                </a:moveTo>
                <a:lnTo>
                  <a:pt x="0" y="0"/>
                </a:lnTo>
                <a:lnTo>
                  <a:pt x="0" y="10995143"/>
                </a:lnTo>
                <a:lnTo>
                  <a:pt x="11854602" y="10995143"/>
                </a:lnTo>
                <a:lnTo>
                  <a:pt x="11854602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2372" y="1172472"/>
            <a:ext cx="15024469" cy="141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31"/>
              </a:lnSpc>
            </a:pPr>
            <a:r>
              <a:rPr lang="en-US" sz="14268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17456008" y="6559497"/>
            <a:ext cx="0" cy="649224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12372" y="3143073"/>
            <a:ext cx="12551940" cy="287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4"/>
              </a:lnSpc>
            </a:pPr>
            <a:r>
              <a:rPr lang="en-US" sz="333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Traffic congestion is a growing challenge in cities. Traditional fixed‑timer signals waste time and fuel, as empty roads face red lights while crowded lanes remain blocked.</a:t>
            </a:r>
          </a:p>
          <a:p>
            <a:pPr algn="just">
              <a:lnSpc>
                <a:spcPts val="5844"/>
              </a:lnSpc>
            </a:pPr>
            <a:endParaRPr lang="en-US" sz="333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12372" y="6570716"/>
            <a:ext cx="15282498" cy="287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4"/>
              </a:lnSpc>
            </a:pPr>
            <a:r>
              <a:rPr lang="en-US" sz="333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project </a:t>
            </a:r>
            <a:r>
              <a:rPr lang="en-US" sz="333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AI Traffic Light Optimizer</a:t>
            </a:r>
            <a:r>
              <a:rPr lang="en-US" sz="333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uses real‑time vehicle detection and AI‑based optimization to dynamically adjust signal timings. This ensures smoother traffic flow, reduced waiting time, and a step forward toward smart city infrastructure.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for Traffic Management: Paving the Way to Smarter, Safer Streets">
            <a:extLst>
              <a:ext uri="{FF2B5EF4-FFF2-40B4-BE49-F238E27FC236}">
                <a16:creationId xmlns:a16="http://schemas.microsoft.com/office/drawing/2014/main" id="{70F0A7A0-5EC6-0B42-6B50-6E43CFF8E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558" y="2563263"/>
            <a:ext cx="9238931" cy="751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/>
          <p:cNvSpPr/>
          <p:nvPr/>
        </p:nvSpPr>
        <p:spPr>
          <a:xfrm>
            <a:off x="914400" y="379476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56658" y="3880033"/>
            <a:ext cx="7858900" cy="46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Specific</a:t>
            </a:r>
            <a:r>
              <a:rPr lang="en-US" sz="257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Detect &amp; count vehicles per lane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3108" y="1380530"/>
            <a:ext cx="15206144" cy="144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5"/>
              </a:lnSpc>
            </a:pPr>
            <a:r>
              <a:rPr lang="en-US" sz="1463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GOALS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658" y="5520341"/>
            <a:ext cx="7858900" cy="46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Measurable: </a:t>
            </a:r>
            <a:r>
              <a:rPr lang="en-US" sz="257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 waiting time ≥20%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6658" y="6322693"/>
            <a:ext cx="7858900" cy="46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Achievable: </a:t>
            </a:r>
            <a:r>
              <a:rPr lang="en-US" sz="257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YOLOv8 + optimization formula</a:t>
            </a: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6658" y="4699643"/>
            <a:ext cx="7858900" cy="46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Relevant: </a:t>
            </a:r>
            <a:r>
              <a:rPr lang="en-US" sz="257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traffic flow &amp; emergency response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6658" y="7125045"/>
            <a:ext cx="7858900" cy="463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575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Time-bound: </a:t>
            </a:r>
            <a:r>
              <a:rPr lang="en-US" sz="2575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Demo-ready prototype in hackathon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olving traffic congestion with the help of math">
            <a:extLst>
              <a:ext uri="{FF2B5EF4-FFF2-40B4-BE49-F238E27FC236}">
                <a16:creationId xmlns:a16="http://schemas.microsoft.com/office/drawing/2014/main" id="{722A67DB-D5ED-3898-F830-93D0EC45F8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4"/>
          <a:stretch>
            <a:fillRect/>
          </a:stretch>
        </p:blipFill>
        <p:spPr bwMode="auto">
          <a:xfrm>
            <a:off x="663711" y="4746929"/>
            <a:ext cx="9296201" cy="554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 rot="-1564364" flipH="1">
            <a:off x="3724976" y="-4902119"/>
            <a:ext cx="13053809" cy="12107408"/>
          </a:xfrm>
          <a:custGeom>
            <a:avLst/>
            <a:gdLst/>
            <a:ahLst/>
            <a:cxnLst/>
            <a:rect l="l" t="t" r="r" b="b"/>
            <a:pathLst>
              <a:path w="13053809" h="12107408">
                <a:moveTo>
                  <a:pt x="13053809" y="0"/>
                </a:moveTo>
                <a:lnTo>
                  <a:pt x="0" y="0"/>
                </a:lnTo>
                <a:lnTo>
                  <a:pt x="0" y="12107408"/>
                </a:lnTo>
                <a:lnTo>
                  <a:pt x="13053809" y="12107408"/>
                </a:lnTo>
                <a:lnTo>
                  <a:pt x="13053809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 flipH="1">
            <a:off x="9264526" y="9550739"/>
            <a:ext cx="783005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629600" y="2374640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629600" y="4941912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6"/>
                </a:lnTo>
                <a:lnTo>
                  <a:pt x="0" y="403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629600" y="7363615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6"/>
                </a:lnTo>
                <a:lnTo>
                  <a:pt x="0" y="403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62025" y="1897824"/>
            <a:ext cx="8699575" cy="266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5"/>
              </a:lnSpc>
            </a:pPr>
            <a:r>
              <a:rPr lang="en-US" sz="1044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4381" y="2307965"/>
            <a:ext cx="5045689" cy="117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3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Traditional traffic lights run on fixed timers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84381" y="4746929"/>
            <a:ext cx="4828087" cy="118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Leads to </a:t>
            </a:r>
            <a:r>
              <a:rPr lang="en-US" sz="338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unnecessary waiting</a:t>
            </a:r>
            <a:r>
              <a:rPr lang="en-US" sz="3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and congestion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4381" y="7185893"/>
            <a:ext cx="4828087" cy="58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Wasted </a:t>
            </a:r>
            <a:r>
              <a:rPr lang="en-US" sz="338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time </a:t>
            </a:r>
            <a:r>
              <a:rPr lang="en-US" sz="3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lang="en-US" sz="338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fuel</a:t>
            </a:r>
          </a:p>
        </p:txBody>
      </p:sp>
      <p:sp>
        <p:nvSpPr>
          <p:cNvPr id="13" name="Freeform 13"/>
          <p:cNvSpPr/>
          <p:nvPr/>
        </p:nvSpPr>
        <p:spPr>
          <a:xfrm rot="-8100000" flipH="1">
            <a:off x="11941149" y="4960458"/>
            <a:ext cx="9308582" cy="8633710"/>
          </a:xfrm>
          <a:custGeom>
            <a:avLst/>
            <a:gdLst/>
            <a:ahLst/>
            <a:cxnLst/>
            <a:rect l="l" t="t" r="r" b="b"/>
            <a:pathLst>
              <a:path w="9308582" h="8633710">
                <a:moveTo>
                  <a:pt x="9308582" y="0"/>
                </a:moveTo>
                <a:lnTo>
                  <a:pt x="0" y="0"/>
                </a:lnTo>
                <a:lnTo>
                  <a:pt x="0" y="8633710"/>
                </a:lnTo>
                <a:lnTo>
                  <a:pt x="9308582" y="8633710"/>
                </a:lnTo>
                <a:lnTo>
                  <a:pt x="9308582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834701" flipH="1">
            <a:off x="1300040" y="4022008"/>
            <a:ext cx="12506119" cy="11599425"/>
          </a:xfrm>
          <a:custGeom>
            <a:avLst/>
            <a:gdLst/>
            <a:ahLst/>
            <a:cxnLst/>
            <a:rect l="l" t="t" r="r" b="b"/>
            <a:pathLst>
              <a:path w="12506119" h="11599425">
                <a:moveTo>
                  <a:pt x="12506119" y="0"/>
                </a:moveTo>
                <a:lnTo>
                  <a:pt x="0" y="0"/>
                </a:lnTo>
                <a:lnTo>
                  <a:pt x="0" y="11599425"/>
                </a:lnTo>
                <a:lnTo>
                  <a:pt x="12506119" y="11599425"/>
                </a:lnTo>
                <a:lnTo>
                  <a:pt x="12506119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-1448358" y="9420490"/>
            <a:ext cx="10592324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01723" y="3310464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01723" y="4740323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52500" y="1106504"/>
            <a:ext cx="7570624" cy="139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67"/>
              </a:lnSpc>
            </a:pPr>
            <a:r>
              <a:rPr lang="en-US" sz="11160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7866" y="3056549"/>
            <a:ext cx="5965628" cy="8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AI to </a:t>
            </a:r>
            <a:r>
              <a:rPr lang="en-US" sz="255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detect vehicles</a:t>
            </a: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from </a:t>
            </a:r>
            <a:r>
              <a:rPr lang="en-US" sz="255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traffic camera feed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7300" y="4472380"/>
            <a:ext cx="5965628" cy="86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Count vehicles per lane (North, South, East, West)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7866" y="5888211"/>
            <a:ext cx="5965628" cy="8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Adjust green light duration </a:t>
            </a:r>
            <a:r>
              <a:rPr lang="en-US" sz="255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based on congestion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7866" y="7304042"/>
            <a:ext cx="5965628" cy="863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Simulate traffic lights in Python (console/GUI)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7866" y="8719873"/>
            <a:ext cx="5965628" cy="430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Result</a:t>
            </a:r>
            <a:r>
              <a:rPr lang="en-US" sz="25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Less waiting, smoother flow</a:t>
            </a:r>
          </a:p>
        </p:txBody>
      </p:sp>
      <p:sp>
        <p:nvSpPr>
          <p:cNvPr id="14" name="Freeform 14"/>
          <p:cNvSpPr/>
          <p:nvPr/>
        </p:nvSpPr>
        <p:spPr>
          <a:xfrm>
            <a:off x="701723" y="6142126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50912" y="7440969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6" y="0"/>
                </a:lnTo>
                <a:lnTo>
                  <a:pt x="403176" y="403176"/>
                </a:lnTo>
                <a:lnTo>
                  <a:pt x="0" y="403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50912" y="8739812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6" y="0"/>
                </a:lnTo>
                <a:lnTo>
                  <a:pt x="403176" y="403176"/>
                </a:lnTo>
                <a:lnTo>
                  <a:pt x="0" y="403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Bengaluru AI Traffic Signal Timer: Revolutionizing Urban Traffic Management  - Daten &amp; Wissen">
            <a:extLst>
              <a:ext uri="{FF2B5EF4-FFF2-40B4-BE49-F238E27FC236}">
                <a16:creationId xmlns:a16="http://schemas.microsoft.com/office/drawing/2014/main" id="{05CA741D-58A0-C39D-F3BE-0D932A849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24" y="1859086"/>
            <a:ext cx="9477807" cy="65688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952500" y="9531689"/>
            <a:ext cx="173355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8918" y="3184273"/>
            <a:ext cx="16667532" cy="54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6"/>
              </a:lnSpc>
            </a:pPr>
            <a:r>
              <a:rPr lang="en-US" sz="30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Video Feed → Vehicle Detection → Count Vehicles → Decide Signal Time → Simulate Lights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918" y="973765"/>
            <a:ext cx="16990165" cy="1492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22"/>
              </a:lnSpc>
            </a:pPr>
            <a:r>
              <a:rPr lang="en-US" sz="11726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WORKFLOW (PIPELINE)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395D1-41C6-5699-7DAF-3DDCE875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23096"/>
            <a:ext cx="13792200" cy="48767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A6524-4C60-2F11-655C-CD9940F6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C1A6A327-3ABB-5B51-8141-6F31B120F469}"/>
              </a:ext>
            </a:extLst>
          </p:cNvPr>
          <p:cNvSpPr/>
          <p:nvPr/>
        </p:nvSpPr>
        <p:spPr>
          <a:xfrm>
            <a:off x="952500" y="9531689"/>
            <a:ext cx="173355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473B7A-53CE-973E-1605-49B01298EE45}"/>
              </a:ext>
            </a:extLst>
          </p:cNvPr>
          <p:cNvSpPr txBox="1"/>
          <p:nvPr/>
        </p:nvSpPr>
        <p:spPr>
          <a:xfrm>
            <a:off x="326285" y="266700"/>
            <a:ext cx="16990165" cy="128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022"/>
              </a:lnSpc>
            </a:pPr>
            <a:r>
              <a:rPr lang="en-US" sz="7200" b="1" u="sng" dirty="0">
                <a:solidFill>
                  <a:srgbClr val="000000"/>
                </a:solidFill>
                <a:latin typeface="Glacial Indifference Bold"/>
              </a:rPr>
              <a:t>Project Structure — AI Traffic Optimizer</a:t>
            </a:r>
            <a:endParaRPr lang="en-US" sz="7200" b="1" u="sng" dirty="0">
              <a:solidFill>
                <a:srgbClr val="000000"/>
              </a:solidFill>
              <a:latin typeface="Glacial Indifference Bold"/>
              <a:sym typeface="Glacial Indifference Bold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14A4B1-87AB-FCC1-4C03-9CBA9E43E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9"/>
          <a:stretch>
            <a:fillRect/>
          </a:stretch>
        </p:blipFill>
        <p:spPr bwMode="auto">
          <a:xfrm>
            <a:off x="1447800" y="1690556"/>
            <a:ext cx="5638800" cy="7706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741FD-29E1-9FDB-E607-70EB5E446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749980"/>
            <a:ext cx="7848600" cy="75116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722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54955" flipH="1">
            <a:off x="3208826" y="-5930211"/>
            <a:ext cx="12787517" cy="11860422"/>
          </a:xfrm>
          <a:custGeom>
            <a:avLst/>
            <a:gdLst/>
            <a:ahLst/>
            <a:cxnLst/>
            <a:rect l="l" t="t" r="r" b="b"/>
            <a:pathLst>
              <a:path w="12787517" h="11860422">
                <a:moveTo>
                  <a:pt x="12787517" y="0"/>
                </a:moveTo>
                <a:lnTo>
                  <a:pt x="0" y="0"/>
                </a:lnTo>
                <a:lnTo>
                  <a:pt x="0" y="11860422"/>
                </a:lnTo>
                <a:lnTo>
                  <a:pt x="12787517" y="11860422"/>
                </a:lnTo>
                <a:lnTo>
                  <a:pt x="12787517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6122810" y="4296456"/>
            <a:ext cx="12787517" cy="11860422"/>
          </a:xfrm>
          <a:custGeom>
            <a:avLst/>
            <a:gdLst/>
            <a:ahLst/>
            <a:cxnLst/>
            <a:rect l="l" t="t" r="r" b="b"/>
            <a:pathLst>
              <a:path w="12787517" h="11860422">
                <a:moveTo>
                  <a:pt x="12787517" y="0"/>
                </a:moveTo>
                <a:lnTo>
                  <a:pt x="0" y="0"/>
                </a:lnTo>
                <a:lnTo>
                  <a:pt x="0" y="11860422"/>
                </a:lnTo>
                <a:lnTo>
                  <a:pt x="12787517" y="11860422"/>
                </a:lnTo>
                <a:lnTo>
                  <a:pt x="12787517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90600" y="7658100"/>
            <a:ext cx="0" cy="649224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17326" y="3893279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507908" y="3893279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3833409"/>
            <a:ext cx="4407015" cy="43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506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Input</a:t>
            </a:r>
            <a:r>
              <a:rPr lang="en-US" sz="25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Video or Webcam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162" y="1858221"/>
            <a:ext cx="12975321" cy="139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70"/>
              </a:lnSpc>
            </a:pPr>
            <a:r>
              <a:rPr lang="en-US" sz="10366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VEHICLE 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24169" y="5142578"/>
            <a:ext cx="4407015" cy="86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50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 each frame with </a:t>
            </a:r>
            <a:r>
              <a:rPr lang="en-US" sz="2506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OpenCV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627" y="5192840"/>
            <a:ext cx="4407015" cy="43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50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Maintain </a:t>
            </a:r>
            <a:r>
              <a:rPr lang="en-US" sz="2506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lane-wise</a:t>
            </a:r>
            <a:r>
              <a:rPr lang="en-US" sz="2506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counters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2071" y="3833409"/>
            <a:ext cx="5452044" cy="869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5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Detect vehicles using </a:t>
            </a:r>
            <a:r>
              <a:rPr lang="en-US" sz="2506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pre-trained models</a:t>
            </a:r>
          </a:p>
        </p:txBody>
      </p:sp>
      <p:sp>
        <p:nvSpPr>
          <p:cNvPr id="16" name="Freeform 16"/>
          <p:cNvSpPr/>
          <p:nvPr/>
        </p:nvSpPr>
        <p:spPr>
          <a:xfrm>
            <a:off x="525908" y="5142578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6507908" y="5143500"/>
            <a:ext cx="403177" cy="403177"/>
          </a:xfrm>
          <a:custGeom>
            <a:avLst/>
            <a:gdLst/>
            <a:ahLst/>
            <a:cxnLst/>
            <a:rect l="l" t="t" r="r" b="b"/>
            <a:pathLst>
              <a:path w="403177" h="403177">
                <a:moveTo>
                  <a:pt x="0" y="0"/>
                </a:moveTo>
                <a:lnTo>
                  <a:pt x="403177" y="0"/>
                </a:lnTo>
                <a:lnTo>
                  <a:pt x="403177" y="403177"/>
                </a:lnTo>
                <a:lnTo>
                  <a:pt x="0" y="403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 descr="Using AI and Real-Time Data to Optimize Traffic Flow and Safety - Western  Systems">
            <a:extLst>
              <a:ext uri="{FF2B5EF4-FFF2-40B4-BE49-F238E27FC236}">
                <a16:creationId xmlns:a16="http://schemas.microsoft.com/office/drawing/2014/main" id="{436AD24D-369D-638C-67B1-AC8689470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71"/>
          <a:stretch>
            <a:fillRect/>
          </a:stretch>
        </p:blipFill>
        <p:spPr bwMode="auto">
          <a:xfrm>
            <a:off x="1259124" y="6591765"/>
            <a:ext cx="10364170" cy="369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AI traffic systems could end congestion forever">
            <a:extLst>
              <a:ext uri="{FF2B5EF4-FFF2-40B4-BE49-F238E27FC236}">
                <a16:creationId xmlns:a16="http://schemas.microsoft.com/office/drawing/2014/main" id="{A65145F9-EE26-F613-B291-40B2392FE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373" y="2858510"/>
            <a:ext cx="5776711" cy="630769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2827" y="978550"/>
            <a:ext cx="8599141" cy="82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8417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DECISION LOGIC</a:t>
            </a:r>
          </a:p>
        </p:txBody>
      </p:sp>
      <p:sp>
        <p:nvSpPr>
          <p:cNvPr id="4" name="AutoShape 4"/>
          <p:cNvSpPr/>
          <p:nvPr/>
        </p:nvSpPr>
        <p:spPr>
          <a:xfrm>
            <a:off x="8305800" y="4062610"/>
            <a:ext cx="0" cy="77257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4296" y="4492353"/>
            <a:ext cx="8458200" cy="2197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</a:t>
            </a:r>
            <a:r>
              <a:rPr lang="en-US" sz="3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>
              <a:lnSpc>
                <a:spcPts val="3436"/>
              </a:lnSpc>
            </a:pPr>
            <a:endParaRPr lang="en-US" sz="3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06539" lvl="2" algn="l">
              <a:lnSpc>
                <a:spcPts val="3436"/>
              </a:lnSpc>
            </a:pPr>
            <a:r>
              <a:rPr lang="en-US" sz="3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Lane A → 12 cars → Green 34 sec</a:t>
            </a:r>
          </a:p>
          <a:p>
            <a:pPr marL="706539" lvl="2" algn="l">
              <a:lnSpc>
                <a:spcPts val="3436"/>
              </a:lnSpc>
            </a:pPr>
            <a:endParaRPr lang="en-US" sz="3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06539" lvl="2" algn="l">
              <a:lnSpc>
                <a:spcPts val="3436"/>
              </a:lnSpc>
            </a:pPr>
            <a:r>
              <a:rPr lang="en-US" sz="3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Lane B → 6 cars → Green 22 sec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900" y="2099748"/>
            <a:ext cx="2563299" cy="386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44"/>
              </a:lnSpc>
            </a:pPr>
            <a:r>
              <a:rPr lang="en-US" sz="32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Formula: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2348" y="7742963"/>
            <a:ext cx="7010395" cy="444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2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More vehicles = longer green signal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F0CC7-D458-220D-4698-6F1FC5C7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177" y="1957922"/>
            <a:ext cx="12637581" cy="1623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C9EA85-21B9-5358-76C7-88DC399182DB}"/>
              </a:ext>
            </a:extLst>
          </p:cNvPr>
          <p:cNvSpPr txBox="1"/>
          <p:nvPr/>
        </p:nvSpPr>
        <p:spPr>
          <a:xfrm>
            <a:off x="8763000" y="4263162"/>
            <a:ext cx="6384758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15000"/>
              </a:lnSpc>
              <a:spcAft>
                <a:spcPts val="800"/>
              </a:spcAft>
            </a:pPr>
            <a:r>
              <a:rPr lang="en-US" sz="3200" b="1" u="sng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Pseudocode for controller</a:t>
            </a:r>
            <a:r>
              <a:rPr lang="en-US" sz="3200" u="sng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87ED21-94BB-E7EE-A561-49EC36237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914" y="5417012"/>
            <a:ext cx="8871276" cy="4450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Smart Control of Traffic Light System using Artificial Intelligence">
            <a:extLst>
              <a:ext uri="{FF2B5EF4-FFF2-40B4-BE49-F238E27FC236}">
                <a16:creationId xmlns:a16="http://schemas.microsoft.com/office/drawing/2014/main" id="{4C9255AA-57C1-D00E-D88E-7B1D37DAA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070" y="3663652"/>
            <a:ext cx="7688130" cy="57660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/>
          <p:cNvSpPr txBox="1"/>
          <p:nvPr/>
        </p:nvSpPr>
        <p:spPr>
          <a:xfrm>
            <a:off x="2446354" y="877764"/>
            <a:ext cx="11357396" cy="119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sz="1215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SIMULATION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2781300"/>
            <a:ext cx="5804229" cy="967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Option 1: </a:t>
            </a: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Console output</a:t>
            </a:r>
          </a:p>
          <a:p>
            <a:pPr marL="1124980" lvl="2" indent="-374993" algn="just">
              <a:lnSpc>
                <a:spcPts val="3907"/>
              </a:lnSpc>
              <a:buFont typeface="Arial"/>
              <a:buChar char="⚬"/>
            </a:pP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“Lane A → GREEN for 34s”</a:t>
            </a:r>
          </a:p>
        </p:txBody>
      </p:sp>
      <p:sp>
        <p:nvSpPr>
          <p:cNvPr id="6" name="AutoShape 6"/>
          <p:cNvSpPr/>
          <p:nvPr/>
        </p:nvSpPr>
        <p:spPr>
          <a:xfrm flipH="1">
            <a:off x="-78740" y="9429750"/>
            <a:ext cx="174152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624731" flipH="1">
            <a:off x="6127931" y="-5987185"/>
            <a:ext cx="10516389" cy="9753951"/>
          </a:xfrm>
          <a:custGeom>
            <a:avLst/>
            <a:gdLst/>
            <a:ahLst/>
            <a:cxnLst/>
            <a:rect l="l" t="t" r="r" b="b"/>
            <a:pathLst>
              <a:path w="10516389" h="9753951">
                <a:moveTo>
                  <a:pt x="10516389" y="0"/>
                </a:moveTo>
                <a:lnTo>
                  <a:pt x="0" y="0"/>
                </a:lnTo>
                <a:lnTo>
                  <a:pt x="0" y="9753951"/>
                </a:lnTo>
                <a:lnTo>
                  <a:pt x="10516389" y="9753951"/>
                </a:lnTo>
                <a:lnTo>
                  <a:pt x="10516389" y="0"/>
                </a:lnTo>
                <a:close/>
              </a:path>
            </a:pathLst>
          </a:custGeom>
          <a:blipFill>
            <a:blip r:embed="rId4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624731" flipH="1">
            <a:off x="-4833566" y="4241450"/>
            <a:ext cx="11187709" cy="10376600"/>
          </a:xfrm>
          <a:custGeom>
            <a:avLst/>
            <a:gdLst/>
            <a:ahLst/>
            <a:cxnLst/>
            <a:rect l="l" t="t" r="r" b="b"/>
            <a:pathLst>
              <a:path w="11187709" h="10376600">
                <a:moveTo>
                  <a:pt x="11187710" y="0"/>
                </a:moveTo>
                <a:lnTo>
                  <a:pt x="0" y="0"/>
                </a:lnTo>
                <a:lnTo>
                  <a:pt x="0" y="10376600"/>
                </a:lnTo>
                <a:lnTo>
                  <a:pt x="11187710" y="10376600"/>
                </a:lnTo>
                <a:lnTo>
                  <a:pt x="11187710" y="0"/>
                </a:lnTo>
                <a:close/>
              </a:path>
            </a:pathLst>
          </a:custGeom>
          <a:blipFill>
            <a:blip r:embed="rId4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677400" y="2516186"/>
            <a:ext cx="5804229" cy="146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Option 2:</a:t>
            </a: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GUI (</a:t>
            </a:r>
            <a:r>
              <a:rPr lang="en-US" sz="2605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Tkinter</a:t>
            </a: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2605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Pygame</a:t>
            </a: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562490" lvl="1" indent="-281245" algn="just">
              <a:lnSpc>
                <a:spcPts val="3907"/>
              </a:lnSpc>
              <a:buFont typeface="Arial"/>
              <a:buChar char="•"/>
            </a:pP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Colored circles (RED/GREEN)</a:t>
            </a:r>
          </a:p>
          <a:p>
            <a:pPr marL="562490" lvl="1" indent="-281245" algn="just">
              <a:lnSpc>
                <a:spcPts val="3907"/>
              </a:lnSpc>
              <a:buFont typeface="Arial"/>
              <a:buChar char="•"/>
            </a:pPr>
            <a:r>
              <a:rPr lang="en-US" sz="2605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Timer-based switching</a:t>
            </a:r>
          </a:p>
        </p:txBody>
      </p:sp>
      <p:pic>
        <p:nvPicPr>
          <p:cNvPr id="5122" name="Picture 2" descr="Traffic signal optimization on a square lattice with quantum annealing |  Scientific Reports">
            <a:extLst>
              <a:ext uri="{FF2B5EF4-FFF2-40B4-BE49-F238E27FC236}">
                <a16:creationId xmlns:a16="http://schemas.microsoft.com/office/drawing/2014/main" id="{5CF1C41A-08A2-FBFC-5165-4B943072A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762500"/>
            <a:ext cx="7342460" cy="408213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arquery helps control adaptive traffic signals with Artificial Intelligence">
            <a:extLst>
              <a:ext uri="{FF2B5EF4-FFF2-40B4-BE49-F238E27FC236}">
                <a16:creationId xmlns:a16="http://schemas.microsoft.com/office/drawing/2014/main" id="{A7D7DA93-BBB7-9249-E1D8-6039671CF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1" b="20396"/>
          <a:stretch>
            <a:fillRect/>
          </a:stretch>
        </p:blipFill>
        <p:spPr bwMode="auto">
          <a:xfrm>
            <a:off x="-43760" y="0"/>
            <a:ext cx="18484160" cy="46563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/>
          <p:cNvSpPr txBox="1"/>
          <p:nvPr/>
        </p:nvSpPr>
        <p:spPr>
          <a:xfrm>
            <a:off x="2782662" y="5287807"/>
            <a:ext cx="7548098" cy="1199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2"/>
              </a:lnSpc>
            </a:pPr>
            <a:r>
              <a:rPr lang="en-US" sz="12159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8520" y="6806915"/>
            <a:ext cx="5804229" cy="4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Dynamic signals</a:t>
            </a:r>
            <a:r>
              <a:rPr lang="en-US" sz="26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adjust in real-time </a:t>
            </a:r>
          </a:p>
        </p:txBody>
      </p:sp>
      <p:sp>
        <p:nvSpPr>
          <p:cNvPr id="6" name="AutoShape 6"/>
          <p:cNvSpPr/>
          <p:nvPr/>
        </p:nvSpPr>
        <p:spPr>
          <a:xfrm flipH="1">
            <a:off x="-78740" y="9429750"/>
            <a:ext cx="174152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624731" flipH="1">
            <a:off x="5682280" y="-4333804"/>
            <a:ext cx="10516389" cy="9753951"/>
          </a:xfrm>
          <a:custGeom>
            <a:avLst/>
            <a:gdLst/>
            <a:ahLst/>
            <a:cxnLst/>
            <a:rect l="l" t="t" r="r" b="b"/>
            <a:pathLst>
              <a:path w="10516389" h="9753951">
                <a:moveTo>
                  <a:pt x="10516389" y="0"/>
                </a:moveTo>
                <a:lnTo>
                  <a:pt x="0" y="0"/>
                </a:lnTo>
                <a:lnTo>
                  <a:pt x="0" y="9753951"/>
                </a:lnTo>
                <a:lnTo>
                  <a:pt x="10516389" y="9753951"/>
                </a:lnTo>
                <a:lnTo>
                  <a:pt x="10516389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/>
          <p:cNvSpPr/>
          <p:nvPr/>
        </p:nvSpPr>
        <p:spPr>
          <a:xfrm rot="-1624731" flipH="1">
            <a:off x="-4833566" y="4295423"/>
            <a:ext cx="11187709" cy="10376600"/>
          </a:xfrm>
          <a:custGeom>
            <a:avLst/>
            <a:gdLst/>
            <a:ahLst/>
            <a:cxnLst/>
            <a:rect l="l" t="t" r="r" b="b"/>
            <a:pathLst>
              <a:path w="11187709" h="10376600">
                <a:moveTo>
                  <a:pt x="11187710" y="0"/>
                </a:moveTo>
                <a:lnTo>
                  <a:pt x="0" y="0"/>
                </a:lnTo>
                <a:lnTo>
                  <a:pt x="0" y="10376600"/>
                </a:lnTo>
                <a:lnTo>
                  <a:pt x="11187710" y="10376600"/>
                </a:lnTo>
                <a:lnTo>
                  <a:pt x="11187710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2298520" y="8070707"/>
            <a:ext cx="5804229" cy="4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Fully simulated cycle for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0761" y="8070707"/>
            <a:ext cx="5804229" cy="4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Efficient </a:t>
            </a:r>
            <a:r>
              <a:rPr lang="en-US" sz="2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traffic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30761" y="6806915"/>
            <a:ext cx="5804229" cy="4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6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Reduced </a:t>
            </a:r>
            <a:r>
              <a:rPr lang="en-US" sz="2605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waiting</a:t>
            </a:r>
            <a:r>
              <a:rPr lang="en-US" sz="26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time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743887" y="746642"/>
            <a:ext cx="12787517" cy="11860422"/>
          </a:xfrm>
          <a:custGeom>
            <a:avLst/>
            <a:gdLst/>
            <a:ahLst/>
            <a:cxnLst/>
            <a:rect l="l" t="t" r="r" b="b"/>
            <a:pathLst>
              <a:path w="12787517" h="11860422">
                <a:moveTo>
                  <a:pt x="12787517" y="0"/>
                </a:moveTo>
                <a:lnTo>
                  <a:pt x="0" y="0"/>
                </a:lnTo>
                <a:lnTo>
                  <a:pt x="0" y="11860422"/>
                </a:lnTo>
                <a:lnTo>
                  <a:pt x="12787517" y="11860422"/>
                </a:lnTo>
                <a:lnTo>
                  <a:pt x="12787517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004115" flipH="1">
            <a:off x="11202415" y="-1669532"/>
            <a:ext cx="10120745" cy="9386991"/>
          </a:xfrm>
          <a:custGeom>
            <a:avLst/>
            <a:gdLst/>
            <a:ahLst/>
            <a:cxnLst/>
            <a:rect l="l" t="t" r="r" b="b"/>
            <a:pathLst>
              <a:path w="10120745" h="9386991">
                <a:moveTo>
                  <a:pt x="10120745" y="0"/>
                </a:moveTo>
                <a:lnTo>
                  <a:pt x="0" y="0"/>
                </a:lnTo>
                <a:lnTo>
                  <a:pt x="0" y="9386991"/>
                </a:lnTo>
                <a:lnTo>
                  <a:pt x="10120745" y="9386991"/>
                </a:lnTo>
                <a:lnTo>
                  <a:pt x="10120745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59144"/>
              </p:ext>
            </p:extLst>
          </p:nvPr>
        </p:nvGraphicFramePr>
        <p:xfrm>
          <a:off x="1981200" y="2552700"/>
          <a:ext cx="13260362" cy="566052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6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77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92" b="1" u="none" strike="noStrike" dirty="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Role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77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692" b="1" u="none" strike="noStrike" dirty="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Task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 dirty="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Vision Lead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 video + detection pipeline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14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Counting Logic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Lane-wise vehicle counting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2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 dirty="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Signal Control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Timing formula + decision logic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UI Developer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Simulation GUI (</a:t>
                      </a:r>
                      <a:r>
                        <a:rPr lang="en-US" sz="2392" u="none" strike="noStrik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Tkinter</a:t>
                      </a: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/</a:t>
                      </a:r>
                      <a:r>
                        <a:rPr lang="en-US" sz="2392" u="none" strike="noStrik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Pygame</a:t>
                      </a: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98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 dirty="0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Integration &amp; Docs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Connect modules + presentation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097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b="1" u="none" strike="noStrike" kern="1200" dirty="0">
                          <a:solidFill>
                            <a:srgbClr val="FFFFFF"/>
                          </a:solidFill>
                          <a:latin typeface="DM Sans Bold"/>
                        </a:rPr>
                        <a:t>Signal Hardware Engineer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35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2" u="none" strike="noStrike" kern="1200" dirty="0">
                          <a:solidFill>
                            <a:srgbClr val="FFFFFF"/>
                          </a:solidFill>
                          <a:latin typeface="DM Sans"/>
                        </a:rPr>
                        <a:t>Relay control, microcontroller setup, circuit design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143329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828800" y="206979"/>
            <a:ext cx="8534400" cy="1930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47"/>
              </a:lnSpc>
            </a:pPr>
            <a:r>
              <a:rPr lang="en-US" sz="110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TEAM ROLE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468665" y="927568"/>
            <a:ext cx="12787517" cy="11860422"/>
          </a:xfrm>
          <a:custGeom>
            <a:avLst/>
            <a:gdLst/>
            <a:ahLst/>
            <a:cxnLst/>
            <a:rect l="l" t="t" r="r" b="b"/>
            <a:pathLst>
              <a:path w="12787517" h="11860422">
                <a:moveTo>
                  <a:pt x="12787518" y="0"/>
                </a:moveTo>
                <a:lnTo>
                  <a:pt x="0" y="0"/>
                </a:lnTo>
                <a:lnTo>
                  <a:pt x="0" y="11860422"/>
                </a:lnTo>
                <a:lnTo>
                  <a:pt x="12787518" y="11860422"/>
                </a:lnTo>
                <a:lnTo>
                  <a:pt x="12787518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004115" flipH="1">
            <a:off x="8088925" y="-4609074"/>
            <a:ext cx="10120745" cy="9386991"/>
          </a:xfrm>
          <a:custGeom>
            <a:avLst/>
            <a:gdLst/>
            <a:ahLst/>
            <a:cxnLst/>
            <a:rect l="l" t="t" r="r" b="b"/>
            <a:pathLst>
              <a:path w="10120745" h="9386991">
                <a:moveTo>
                  <a:pt x="10120745" y="0"/>
                </a:moveTo>
                <a:lnTo>
                  <a:pt x="0" y="0"/>
                </a:lnTo>
                <a:lnTo>
                  <a:pt x="0" y="9386991"/>
                </a:lnTo>
                <a:lnTo>
                  <a:pt x="10120745" y="9386991"/>
                </a:lnTo>
                <a:lnTo>
                  <a:pt x="10120745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61101" y="1025110"/>
            <a:ext cx="15420656" cy="1928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5"/>
              </a:lnSpc>
            </a:pPr>
            <a:r>
              <a:rPr lang="en-US" sz="16005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SCOP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9075" y="4224385"/>
            <a:ext cx="10240827" cy="62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5"/>
              </a:lnSpc>
            </a:pPr>
            <a:r>
              <a:rPr lang="en-US" sz="345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Real-time deployment with </a:t>
            </a:r>
            <a:r>
              <a:rPr lang="en-US" sz="345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CCTV </a:t>
            </a:r>
            <a:r>
              <a:rPr lang="en-US" sz="345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feeds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9075" y="7879243"/>
            <a:ext cx="856849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5"/>
              </a:lnSpc>
            </a:pPr>
            <a:r>
              <a:rPr lang="en-US" sz="345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logging </a:t>
            </a:r>
            <a:r>
              <a:rPr lang="en-US" sz="345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 traffic analytic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2980" y="6694900"/>
            <a:ext cx="1102937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5"/>
              </a:lnSpc>
            </a:pPr>
            <a:r>
              <a:rPr lang="en-US" sz="345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Emergency vehicle</a:t>
            </a:r>
            <a:r>
              <a:rPr lang="en-US" sz="345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priority (ambulance/fire trucks)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9075" y="5459641"/>
            <a:ext cx="831566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5"/>
              </a:lnSpc>
            </a:pPr>
            <a:r>
              <a:rPr lang="en-US" sz="345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Integration with </a:t>
            </a:r>
            <a:r>
              <a:rPr lang="en-US" sz="345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city traffic system</a:t>
            </a:r>
          </a:p>
        </p:txBody>
      </p:sp>
      <p:pic>
        <p:nvPicPr>
          <p:cNvPr id="7170" name="Picture 2" descr="Enabling an Intelligent Traffic Management System Using Corazon-AI - iWave  Systems">
            <a:extLst>
              <a:ext uri="{FF2B5EF4-FFF2-40B4-BE49-F238E27FC236}">
                <a16:creationId xmlns:a16="http://schemas.microsoft.com/office/drawing/2014/main" id="{839C9AED-58DF-F6B9-A3A5-0AAEC6B2E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7118" y="3390900"/>
            <a:ext cx="6539742" cy="572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25741-DFAA-5245-446A-0ABC0093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510C06-42AA-B5D7-66A1-92500C9BAF5D}"/>
              </a:ext>
            </a:extLst>
          </p:cNvPr>
          <p:cNvSpPr/>
          <p:nvPr/>
        </p:nvSpPr>
        <p:spPr>
          <a:xfrm flipH="1">
            <a:off x="-2362200" y="1922925"/>
            <a:ext cx="12787517" cy="11860422"/>
          </a:xfrm>
          <a:custGeom>
            <a:avLst/>
            <a:gdLst/>
            <a:ahLst/>
            <a:cxnLst/>
            <a:rect l="l" t="t" r="r" b="b"/>
            <a:pathLst>
              <a:path w="12787517" h="11860422">
                <a:moveTo>
                  <a:pt x="12787518" y="0"/>
                </a:moveTo>
                <a:lnTo>
                  <a:pt x="0" y="0"/>
                </a:lnTo>
                <a:lnTo>
                  <a:pt x="0" y="11860422"/>
                </a:lnTo>
                <a:lnTo>
                  <a:pt x="12787518" y="11860422"/>
                </a:lnTo>
                <a:lnTo>
                  <a:pt x="12787518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A80482-488A-4485-9408-B3994BF9CB26}"/>
              </a:ext>
            </a:extLst>
          </p:cNvPr>
          <p:cNvSpPr/>
          <p:nvPr/>
        </p:nvSpPr>
        <p:spPr>
          <a:xfrm rot="9004115" flipH="1">
            <a:off x="8088925" y="-4609074"/>
            <a:ext cx="10120745" cy="9386991"/>
          </a:xfrm>
          <a:custGeom>
            <a:avLst/>
            <a:gdLst/>
            <a:ahLst/>
            <a:cxnLst/>
            <a:rect l="l" t="t" r="r" b="b"/>
            <a:pathLst>
              <a:path w="10120745" h="9386991">
                <a:moveTo>
                  <a:pt x="10120745" y="0"/>
                </a:moveTo>
                <a:lnTo>
                  <a:pt x="0" y="0"/>
                </a:lnTo>
                <a:lnTo>
                  <a:pt x="0" y="9386991"/>
                </a:lnTo>
                <a:lnTo>
                  <a:pt x="10120745" y="9386991"/>
                </a:lnTo>
                <a:lnTo>
                  <a:pt x="10120745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8CB224-5048-7B61-EC14-F8A56BC9A3D4}"/>
              </a:ext>
            </a:extLst>
          </p:cNvPr>
          <p:cNvSpPr txBox="1"/>
          <p:nvPr/>
        </p:nvSpPr>
        <p:spPr>
          <a:xfrm>
            <a:off x="1433672" y="3848100"/>
            <a:ext cx="15420656" cy="185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5"/>
              </a:lnSpc>
            </a:pPr>
            <a:r>
              <a:rPr lang="en-US" sz="16005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4240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448</Words>
  <Application>Microsoft Office PowerPoint</Application>
  <PresentationFormat>Custom</PresentationFormat>
  <Paragraphs>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Glacial Indifference Bold</vt:lpstr>
      <vt:lpstr>Arial</vt:lpstr>
      <vt:lpstr>DM Sans</vt:lpstr>
      <vt:lpstr>DM Sans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Traffic Light Optimizer</dc:title>
  <cp:lastModifiedBy>Shivam paliwal</cp:lastModifiedBy>
  <cp:revision>5</cp:revision>
  <dcterms:created xsi:type="dcterms:W3CDTF">2006-08-16T00:00:00Z</dcterms:created>
  <dcterms:modified xsi:type="dcterms:W3CDTF">2025-10-05T06:30:44Z</dcterms:modified>
  <dc:identifier>DAG0j8pRFoo</dc:identifier>
</cp:coreProperties>
</file>