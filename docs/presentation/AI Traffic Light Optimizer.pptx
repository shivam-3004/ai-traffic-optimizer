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8" r:id="rId8"/>
    <p:sldId id="262" r:id="rId9"/>
    <p:sldId id="263" r:id="rId10"/>
    <p:sldId id="264" r:id="rId11"/>
    <p:sldId id="265" r:id="rId12"/>
    <p:sldId id="266" r:id="rId13"/>
    <p:sldId id="267" r:id="rId14"/>
  </p:sldIdLst>
  <p:sldSz cx="18288000" cy="10287000"/>
  <p:notesSz cx="6858000" cy="9144000"/>
  <p:embeddedFontLst>
    <p:embeddedFont>
      <p:font typeface="DM Sans" pitchFamily="2" charset="0"/>
      <p:regular r:id="rId15"/>
    </p:embeddedFont>
    <p:embeddedFont>
      <p:font typeface="DM Sans Bold" charset="0"/>
      <p:regular r:id="rId16"/>
    </p:embeddedFont>
    <p:embeddedFont>
      <p:font typeface="Glacial Indifference Bold" panose="020B0604020202020204" charset="0"/>
      <p:regular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67" d="100"/>
          <a:sy n="67" d="100"/>
        </p:scale>
        <p:origin x="912" y="-33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jpeg"/><Relationship Id="rId4" Type="http://schemas.openxmlformats.org/officeDocument/2006/relationships/image" Target="../media/image8.sv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jpeg"/><Relationship Id="rId5" Type="http://schemas.openxmlformats.org/officeDocument/2006/relationships/image" Target="../media/image13.jpeg"/><Relationship Id="rId4" Type="http://schemas.openxmlformats.org/officeDocument/2006/relationships/image" Target="../media/image8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-1174890" y="1583356"/>
            <a:ext cx="11876845" cy="9709321"/>
          </a:xfrm>
          <a:custGeom>
            <a:avLst/>
            <a:gdLst/>
            <a:ahLst/>
            <a:cxnLst/>
            <a:rect l="l" t="t" r="r" b="b"/>
            <a:pathLst>
              <a:path w="11876845" h="9709321">
                <a:moveTo>
                  <a:pt x="11876845" y="0"/>
                </a:moveTo>
                <a:lnTo>
                  <a:pt x="0" y="0"/>
                </a:lnTo>
                <a:lnTo>
                  <a:pt x="0" y="9709321"/>
                </a:lnTo>
                <a:lnTo>
                  <a:pt x="11876845" y="9709321"/>
                </a:lnTo>
                <a:lnTo>
                  <a:pt x="11876845" y="0"/>
                </a:lnTo>
                <a:close/>
              </a:path>
            </a:pathLst>
          </a:custGeom>
          <a:blipFill>
            <a:blip r:embed="rId2">
              <a:alphaModFix amt="84000"/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9144000" y="-5073456"/>
            <a:ext cx="10346285" cy="9596180"/>
          </a:xfrm>
          <a:custGeom>
            <a:avLst/>
            <a:gdLst/>
            <a:ahLst/>
            <a:cxnLst/>
            <a:rect l="l" t="t" r="r" b="b"/>
            <a:pathLst>
              <a:path w="10346285" h="9596180">
                <a:moveTo>
                  <a:pt x="0" y="0"/>
                </a:moveTo>
                <a:lnTo>
                  <a:pt x="10346285" y="0"/>
                </a:lnTo>
                <a:lnTo>
                  <a:pt x="10346285" y="9596180"/>
                </a:lnTo>
                <a:lnTo>
                  <a:pt x="0" y="959618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84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TextBox 4"/>
          <p:cNvSpPr txBox="1"/>
          <p:nvPr/>
        </p:nvSpPr>
        <p:spPr>
          <a:xfrm>
            <a:off x="1885131" y="3109980"/>
            <a:ext cx="14263697" cy="3328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931"/>
              </a:lnSpc>
            </a:pPr>
            <a:r>
              <a:rPr lang="en-US" sz="11863" b="1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AI TRAFFIC LIGHT OPTIMIZER</a:t>
            </a:r>
          </a:p>
        </p:txBody>
      </p:sp>
      <p:sp>
        <p:nvSpPr>
          <p:cNvPr id="5" name="Freeform 5"/>
          <p:cNvSpPr/>
          <p:nvPr/>
        </p:nvSpPr>
        <p:spPr>
          <a:xfrm>
            <a:off x="15447022" y="363500"/>
            <a:ext cx="2089666" cy="2439711"/>
          </a:xfrm>
          <a:custGeom>
            <a:avLst/>
            <a:gdLst/>
            <a:ahLst/>
            <a:cxnLst/>
            <a:rect l="l" t="t" r="r" b="b"/>
            <a:pathLst>
              <a:path w="2089666" h="2439711">
                <a:moveTo>
                  <a:pt x="0" y="0"/>
                </a:moveTo>
                <a:lnTo>
                  <a:pt x="2089666" y="0"/>
                </a:lnTo>
                <a:lnTo>
                  <a:pt x="2089666" y="2439711"/>
                </a:lnTo>
                <a:lnTo>
                  <a:pt x="0" y="243971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TextBox 6"/>
          <p:cNvSpPr txBox="1"/>
          <p:nvPr/>
        </p:nvSpPr>
        <p:spPr>
          <a:xfrm>
            <a:off x="826436" y="8523991"/>
            <a:ext cx="7391438" cy="1334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92"/>
              </a:lnSpc>
            </a:pPr>
            <a:r>
              <a:rPr lang="en-US" sz="2806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Smart Signal Control Based on Real-Time Vehicle Count</a:t>
            </a:r>
          </a:p>
          <a:p>
            <a:pPr algn="l">
              <a:lnSpc>
                <a:spcPts val="3592"/>
              </a:lnSpc>
            </a:pPr>
            <a:r>
              <a:rPr lang="en-US" sz="2806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Tech Stack: OpenCV + Python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72475" y="537686"/>
            <a:ext cx="1728820" cy="356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44"/>
              </a:lnSpc>
            </a:pPr>
            <a:r>
              <a:rPr lang="en-US" sz="2585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Hackathon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1582400" y="7734717"/>
            <a:ext cx="6458324" cy="21236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2800" b="1" u="sng" dirty="0">
                <a:solidFill>
                  <a:srgbClr val="FFFFFF"/>
                </a:solidFill>
                <a:latin typeface="DM Sans"/>
              </a:rPr>
              <a:t>Team Members</a:t>
            </a:r>
          </a:p>
          <a:p>
            <a:r>
              <a:rPr lang="en-US" sz="2200" b="1" dirty="0">
                <a:solidFill>
                  <a:srgbClr val="FFFFFF"/>
                </a:solidFill>
                <a:latin typeface="DM Sans"/>
              </a:rPr>
              <a:t>Shivam Paliwal </a:t>
            </a:r>
            <a:r>
              <a:rPr lang="en-US" sz="2200" dirty="0">
                <a:solidFill>
                  <a:srgbClr val="FFFFFF"/>
                </a:solidFill>
                <a:latin typeface="DM Sans"/>
              </a:rPr>
              <a:t>– Team Leader &amp; Integration</a:t>
            </a:r>
          </a:p>
          <a:p>
            <a:r>
              <a:rPr lang="en-US" sz="2200" b="1" dirty="0">
                <a:solidFill>
                  <a:srgbClr val="FFFFFF"/>
                </a:solidFill>
                <a:latin typeface="DM Sans"/>
              </a:rPr>
              <a:t>Aryan Bhandari </a:t>
            </a:r>
            <a:r>
              <a:rPr lang="en-US" sz="2200" dirty="0">
                <a:solidFill>
                  <a:srgbClr val="FFFFFF"/>
                </a:solidFill>
                <a:latin typeface="DM Sans"/>
              </a:rPr>
              <a:t>– Signal Logic</a:t>
            </a:r>
          </a:p>
          <a:p>
            <a:r>
              <a:rPr lang="en-US" sz="2200" b="1" dirty="0">
                <a:solidFill>
                  <a:srgbClr val="FFFFFF"/>
                </a:solidFill>
                <a:latin typeface="DM Sans"/>
              </a:rPr>
              <a:t>Aditya Tiwari </a:t>
            </a:r>
            <a:r>
              <a:rPr lang="en-US" sz="2200" dirty="0">
                <a:solidFill>
                  <a:srgbClr val="FFFFFF"/>
                </a:solidFill>
                <a:latin typeface="DM Sans"/>
              </a:rPr>
              <a:t>– Model Training &amp; Vehicle Counting</a:t>
            </a:r>
          </a:p>
          <a:p>
            <a:r>
              <a:rPr lang="en-US" sz="2200" b="1" dirty="0">
                <a:solidFill>
                  <a:srgbClr val="FFFFFF"/>
                </a:solidFill>
                <a:latin typeface="DM Sans"/>
              </a:rPr>
              <a:t>Mohd. Arham </a:t>
            </a:r>
            <a:r>
              <a:rPr lang="en-US" sz="2200" dirty="0">
                <a:solidFill>
                  <a:srgbClr val="FFFFFF"/>
                </a:solidFill>
                <a:latin typeface="DM Sans"/>
              </a:rPr>
              <a:t>– Frontend Development</a:t>
            </a:r>
          </a:p>
          <a:p>
            <a:r>
              <a:rPr lang="en-US" sz="2200" b="1" dirty="0">
                <a:solidFill>
                  <a:srgbClr val="FFFFFF"/>
                </a:solidFill>
                <a:latin typeface="DM Sans"/>
              </a:rPr>
              <a:t>Shivam Kumar Sharma </a:t>
            </a:r>
            <a:r>
              <a:rPr lang="en-US" sz="2200" dirty="0">
                <a:solidFill>
                  <a:srgbClr val="FFFFFF"/>
                </a:solidFill>
                <a:latin typeface="DM Sans"/>
              </a:rPr>
              <a:t>– Lane Segmentation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-3074957" y="-2262194"/>
            <a:ext cx="7589563" cy="7039320"/>
          </a:xfrm>
          <a:custGeom>
            <a:avLst/>
            <a:gdLst/>
            <a:ahLst/>
            <a:cxnLst/>
            <a:rect l="l" t="t" r="r" b="b"/>
            <a:pathLst>
              <a:path w="7589563" h="7039320">
                <a:moveTo>
                  <a:pt x="7589563" y="0"/>
                </a:moveTo>
                <a:lnTo>
                  <a:pt x="0" y="0"/>
                </a:lnTo>
                <a:lnTo>
                  <a:pt x="0" y="7039320"/>
                </a:lnTo>
                <a:lnTo>
                  <a:pt x="7589563" y="7039320"/>
                </a:lnTo>
                <a:lnTo>
                  <a:pt x="7589563" y="0"/>
                </a:lnTo>
                <a:close/>
              </a:path>
            </a:pathLst>
          </a:custGeom>
          <a:blipFill>
            <a:blip r:embed="rId2">
              <a:alphaModFix amt="64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 flipH="1">
            <a:off x="10826211" y="2969675"/>
            <a:ext cx="11854602" cy="10995143"/>
          </a:xfrm>
          <a:custGeom>
            <a:avLst/>
            <a:gdLst/>
            <a:ahLst/>
            <a:cxnLst/>
            <a:rect l="l" t="t" r="r" b="b"/>
            <a:pathLst>
              <a:path w="11854602" h="10995143">
                <a:moveTo>
                  <a:pt x="11854602" y="0"/>
                </a:moveTo>
                <a:lnTo>
                  <a:pt x="0" y="0"/>
                </a:lnTo>
                <a:lnTo>
                  <a:pt x="0" y="10995143"/>
                </a:lnTo>
                <a:lnTo>
                  <a:pt x="11854602" y="10995143"/>
                </a:lnTo>
                <a:lnTo>
                  <a:pt x="11854602" y="0"/>
                </a:lnTo>
                <a:close/>
              </a:path>
            </a:pathLst>
          </a:custGeom>
          <a:blipFill>
            <a:blip r:embed="rId2">
              <a:alphaModFix amt="64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TextBox 4"/>
          <p:cNvSpPr txBox="1"/>
          <p:nvPr/>
        </p:nvSpPr>
        <p:spPr>
          <a:xfrm>
            <a:off x="812372" y="1172472"/>
            <a:ext cx="15024469" cy="1414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31"/>
              </a:lnSpc>
            </a:pPr>
            <a:r>
              <a:rPr lang="en-US" sz="14268" b="1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INTRODUCTION</a:t>
            </a:r>
          </a:p>
        </p:txBody>
      </p:sp>
      <p:sp>
        <p:nvSpPr>
          <p:cNvPr id="5" name="AutoShape 5"/>
          <p:cNvSpPr/>
          <p:nvPr/>
        </p:nvSpPr>
        <p:spPr>
          <a:xfrm>
            <a:off x="17456008" y="6559497"/>
            <a:ext cx="0" cy="649224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Box 6"/>
          <p:cNvSpPr txBox="1"/>
          <p:nvPr/>
        </p:nvSpPr>
        <p:spPr>
          <a:xfrm>
            <a:off x="812372" y="3143073"/>
            <a:ext cx="12551940" cy="28718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844"/>
              </a:lnSpc>
            </a:pPr>
            <a:r>
              <a:rPr lang="en-US" sz="3339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Traffic congestion is a growing challenge in cities. Traditional fixed‑timer signals waste time and fuel, as empty roads face red lights while crowded lanes remain blocked.</a:t>
            </a:r>
          </a:p>
          <a:p>
            <a:pPr algn="just">
              <a:lnSpc>
                <a:spcPts val="5844"/>
              </a:lnSpc>
            </a:pPr>
            <a:endParaRPr lang="en-US" sz="3339">
              <a:solidFill>
                <a:srgbClr val="FFFFFF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812372" y="6570716"/>
            <a:ext cx="15282498" cy="28718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844"/>
              </a:lnSpc>
            </a:pPr>
            <a:r>
              <a:rPr lang="en-US" sz="3339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Our project </a:t>
            </a:r>
            <a:r>
              <a:rPr lang="en-US" sz="3339" b="1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AI Traffic Light Optimizer</a:t>
            </a:r>
            <a:r>
              <a:rPr lang="en-US" sz="3339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 uses real‑time vehicle detection and AI‑based optimization to dynamically adjust signal timings. This ensures smoother traffic flow, reduced waiting time, and a step forward toward smart city infrastructure.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AI for Traffic Management: Paving the Way to Smarter, Safer Streets">
            <a:extLst>
              <a:ext uri="{FF2B5EF4-FFF2-40B4-BE49-F238E27FC236}">
                <a16:creationId xmlns:a16="http://schemas.microsoft.com/office/drawing/2014/main" id="{70F0A7A0-5EC6-0B42-6B50-6E43CFF8EA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5558" y="2563263"/>
            <a:ext cx="9238931" cy="75188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AutoShape 4"/>
          <p:cNvSpPr/>
          <p:nvPr/>
        </p:nvSpPr>
        <p:spPr>
          <a:xfrm>
            <a:off x="914400" y="3794760"/>
            <a:ext cx="0" cy="649224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Box 5"/>
          <p:cNvSpPr txBox="1"/>
          <p:nvPr/>
        </p:nvSpPr>
        <p:spPr>
          <a:xfrm>
            <a:off x="1556658" y="3880033"/>
            <a:ext cx="7858900" cy="4638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63"/>
              </a:lnSpc>
            </a:pPr>
            <a:r>
              <a:rPr lang="en-US" sz="2575" b="1" dirty="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Specific</a:t>
            </a:r>
            <a:r>
              <a:rPr lang="en-US" sz="2575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: Detect &amp; count vehicles per lane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53108" y="1380530"/>
            <a:ext cx="15206144" cy="14483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365"/>
              </a:lnSpc>
            </a:pPr>
            <a:r>
              <a:rPr lang="en-US" sz="14633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PROJECT GOALS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556658" y="5520341"/>
            <a:ext cx="7858900" cy="4638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63"/>
              </a:lnSpc>
            </a:pPr>
            <a:r>
              <a:rPr lang="en-US" sz="2575" b="1" dirty="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Measurable: </a:t>
            </a:r>
            <a:r>
              <a:rPr lang="en-US" sz="2575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Reduce waiting time ≥20% 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556658" y="6322693"/>
            <a:ext cx="7858900" cy="4638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63"/>
              </a:lnSpc>
            </a:pPr>
            <a:r>
              <a:rPr lang="en-US" sz="2575" b="1" dirty="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Achievable: </a:t>
            </a:r>
            <a:r>
              <a:rPr lang="en-US" sz="2575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YOLOv8 + optimization formula</a:t>
            </a:r>
            <a:r>
              <a:rPr lang="en-US" sz="2575" b="1" dirty="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 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556658" y="4699643"/>
            <a:ext cx="7858900" cy="4638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63"/>
              </a:lnSpc>
            </a:pPr>
            <a:r>
              <a:rPr lang="en-US" sz="2575" b="1" dirty="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Relevant: </a:t>
            </a:r>
            <a:r>
              <a:rPr lang="en-US" sz="2575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Helps traffic flow &amp; emergency response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556658" y="7125045"/>
            <a:ext cx="7858900" cy="4638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63"/>
              </a:lnSpc>
            </a:pPr>
            <a:r>
              <a:rPr lang="en-US" sz="2575" b="1" dirty="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Time-bound: </a:t>
            </a:r>
            <a:r>
              <a:rPr lang="en-US" sz="2575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Demo-ready prototype in hackathon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Solving traffic congestion with the help of math">
            <a:extLst>
              <a:ext uri="{FF2B5EF4-FFF2-40B4-BE49-F238E27FC236}">
                <a16:creationId xmlns:a16="http://schemas.microsoft.com/office/drawing/2014/main" id="{722A67DB-D5ED-3898-F830-93D0EC45F8C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0314"/>
          <a:stretch>
            <a:fillRect/>
          </a:stretch>
        </p:blipFill>
        <p:spPr bwMode="auto">
          <a:xfrm>
            <a:off x="663711" y="4746929"/>
            <a:ext cx="9296201" cy="55400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Freeform 2"/>
          <p:cNvSpPr/>
          <p:nvPr/>
        </p:nvSpPr>
        <p:spPr>
          <a:xfrm rot="-1564364" flipH="1">
            <a:off x="3590986" y="-5317444"/>
            <a:ext cx="13053809" cy="12107408"/>
          </a:xfrm>
          <a:custGeom>
            <a:avLst/>
            <a:gdLst/>
            <a:ahLst/>
            <a:cxnLst/>
            <a:rect l="l" t="t" r="r" b="b"/>
            <a:pathLst>
              <a:path w="13053809" h="12107408">
                <a:moveTo>
                  <a:pt x="13053809" y="0"/>
                </a:moveTo>
                <a:lnTo>
                  <a:pt x="0" y="0"/>
                </a:lnTo>
                <a:lnTo>
                  <a:pt x="0" y="12107408"/>
                </a:lnTo>
                <a:lnTo>
                  <a:pt x="13053809" y="12107408"/>
                </a:lnTo>
                <a:lnTo>
                  <a:pt x="13053809" y="0"/>
                </a:lnTo>
                <a:close/>
              </a:path>
            </a:pathLst>
          </a:custGeom>
          <a:blipFill>
            <a:blip r:embed="rId3">
              <a:alphaModFix amt="64000"/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5" name="AutoShape 5"/>
          <p:cNvSpPr/>
          <p:nvPr/>
        </p:nvSpPr>
        <p:spPr>
          <a:xfrm flipH="1">
            <a:off x="9264526" y="9550739"/>
            <a:ext cx="7830054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>
            <a:off x="10629600" y="2374640"/>
            <a:ext cx="403177" cy="403177"/>
          </a:xfrm>
          <a:custGeom>
            <a:avLst/>
            <a:gdLst/>
            <a:ahLst/>
            <a:cxnLst/>
            <a:rect l="l" t="t" r="r" b="b"/>
            <a:pathLst>
              <a:path w="403177" h="403177">
                <a:moveTo>
                  <a:pt x="0" y="0"/>
                </a:moveTo>
                <a:lnTo>
                  <a:pt x="403177" y="0"/>
                </a:lnTo>
                <a:lnTo>
                  <a:pt x="403177" y="403177"/>
                </a:lnTo>
                <a:lnTo>
                  <a:pt x="0" y="40317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/>
          <p:cNvSpPr/>
          <p:nvPr/>
        </p:nvSpPr>
        <p:spPr>
          <a:xfrm>
            <a:off x="10629600" y="4941912"/>
            <a:ext cx="403177" cy="403177"/>
          </a:xfrm>
          <a:custGeom>
            <a:avLst/>
            <a:gdLst/>
            <a:ahLst/>
            <a:cxnLst/>
            <a:rect l="l" t="t" r="r" b="b"/>
            <a:pathLst>
              <a:path w="403177" h="403177">
                <a:moveTo>
                  <a:pt x="0" y="0"/>
                </a:moveTo>
                <a:lnTo>
                  <a:pt x="403177" y="0"/>
                </a:lnTo>
                <a:lnTo>
                  <a:pt x="403177" y="403176"/>
                </a:lnTo>
                <a:lnTo>
                  <a:pt x="0" y="40317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Freeform 8"/>
          <p:cNvSpPr/>
          <p:nvPr/>
        </p:nvSpPr>
        <p:spPr>
          <a:xfrm>
            <a:off x="10629600" y="7363615"/>
            <a:ext cx="403177" cy="403177"/>
          </a:xfrm>
          <a:custGeom>
            <a:avLst/>
            <a:gdLst/>
            <a:ahLst/>
            <a:cxnLst/>
            <a:rect l="l" t="t" r="r" b="b"/>
            <a:pathLst>
              <a:path w="403177" h="403177">
                <a:moveTo>
                  <a:pt x="0" y="0"/>
                </a:moveTo>
                <a:lnTo>
                  <a:pt x="403177" y="0"/>
                </a:lnTo>
                <a:lnTo>
                  <a:pt x="403177" y="403176"/>
                </a:lnTo>
                <a:lnTo>
                  <a:pt x="0" y="40317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TextBox 9"/>
          <p:cNvSpPr txBox="1"/>
          <p:nvPr/>
        </p:nvSpPr>
        <p:spPr>
          <a:xfrm>
            <a:off x="962025" y="1897824"/>
            <a:ext cx="8699575" cy="26634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235"/>
              </a:lnSpc>
            </a:pPr>
            <a:r>
              <a:rPr lang="en-US" sz="10444" b="1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PROBLEM STATEMENT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1084381" y="2307965"/>
            <a:ext cx="5045689" cy="1175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38"/>
              </a:lnSpc>
            </a:pPr>
            <a:r>
              <a:rPr lang="en-US" sz="3384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Traditional traffic lights run on fixed timers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084381" y="4746929"/>
            <a:ext cx="4828087" cy="1180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32"/>
              </a:lnSpc>
            </a:pPr>
            <a:r>
              <a:rPr lang="en-US" sz="338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Leads to </a:t>
            </a:r>
            <a:r>
              <a:rPr lang="en-US" sz="3380" b="1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unnecessary waiting</a:t>
            </a:r>
            <a:r>
              <a:rPr lang="en-US" sz="338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 and congestion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1084381" y="7185893"/>
            <a:ext cx="4828087" cy="5808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32"/>
              </a:lnSpc>
            </a:pPr>
            <a:r>
              <a:rPr lang="en-US" sz="338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Wasted </a:t>
            </a:r>
            <a:r>
              <a:rPr lang="en-US" sz="3380" b="1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time </a:t>
            </a:r>
            <a:r>
              <a:rPr lang="en-US" sz="338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and </a:t>
            </a:r>
            <a:r>
              <a:rPr lang="en-US" sz="3380" b="1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fuel</a:t>
            </a:r>
          </a:p>
        </p:txBody>
      </p:sp>
      <p:sp>
        <p:nvSpPr>
          <p:cNvPr id="13" name="Freeform 13"/>
          <p:cNvSpPr/>
          <p:nvPr/>
        </p:nvSpPr>
        <p:spPr>
          <a:xfrm rot="-8100000" flipH="1">
            <a:off x="12318867" y="5146700"/>
            <a:ext cx="9308582" cy="8633710"/>
          </a:xfrm>
          <a:custGeom>
            <a:avLst/>
            <a:gdLst/>
            <a:ahLst/>
            <a:cxnLst/>
            <a:rect l="l" t="t" r="r" b="b"/>
            <a:pathLst>
              <a:path w="9308582" h="8633710">
                <a:moveTo>
                  <a:pt x="9308582" y="0"/>
                </a:moveTo>
                <a:lnTo>
                  <a:pt x="0" y="0"/>
                </a:lnTo>
                <a:lnTo>
                  <a:pt x="0" y="8633710"/>
                </a:lnTo>
                <a:lnTo>
                  <a:pt x="9308582" y="8633710"/>
                </a:lnTo>
                <a:lnTo>
                  <a:pt x="9308582" y="0"/>
                </a:lnTo>
                <a:close/>
              </a:path>
            </a:pathLst>
          </a:custGeom>
          <a:blipFill>
            <a:blip r:embed="rId3">
              <a:alphaModFix amt="64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7834701" flipH="1">
            <a:off x="1300040" y="4022008"/>
            <a:ext cx="12506119" cy="11599425"/>
          </a:xfrm>
          <a:custGeom>
            <a:avLst/>
            <a:gdLst/>
            <a:ahLst/>
            <a:cxnLst/>
            <a:rect l="l" t="t" r="r" b="b"/>
            <a:pathLst>
              <a:path w="12506119" h="11599425">
                <a:moveTo>
                  <a:pt x="12506119" y="0"/>
                </a:moveTo>
                <a:lnTo>
                  <a:pt x="0" y="0"/>
                </a:lnTo>
                <a:lnTo>
                  <a:pt x="0" y="11599425"/>
                </a:lnTo>
                <a:lnTo>
                  <a:pt x="12506119" y="11599425"/>
                </a:lnTo>
                <a:lnTo>
                  <a:pt x="12506119" y="0"/>
                </a:lnTo>
                <a:close/>
              </a:path>
            </a:pathLst>
          </a:custGeom>
          <a:blipFill>
            <a:blip r:embed="rId2">
              <a:alphaModFix amt="64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AutoShape 5"/>
          <p:cNvSpPr/>
          <p:nvPr/>
        </p:nvSpPr>
        <p:spPr>
          <a:xfrm flipH="1">
            <a:off x="-1448358" y="9420490"/>
            <a:ext cx="10592324" cy="1905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>
            <a:off x="701723" y="3310464"/>
            <a:ext cx="403177" cy="403177"/>
          </a:xfrm>
          <a:custGeom>
            <a:avLst/>
            <a:gdLst/>
            <a:ahLst/>
            <a:cxnLst/>
            <a:rect l="l" t="t" r="r" b="b"/>
            <a:pathLst>
              <a:path w="403177" h="403177">
                <a:moveTo>
                  <a:pt x="0" y="0"/>
                </a:moveTo>
                <a:lnTo>
                  <a:pt x="403177" y="0"/>
                </a:lnTo>
                <a:lnTo>
                  <a:pt x="403177" y="403177"/>
                </a:lnTo>
                <a:lnTo>
                  <a:pt x="0" y="40317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/>
          <p:cNvSpPr/>
          <p:nvPr/>
        </p:nvSpPr>
        <p:spPr>
          <a:xfrm>
            <a:off x="701723" y="4740323"/>
            <a:ext cx="403177" cy="403177"/>
          </a:xfrm>
          <a:custGeom>
            <a:avLst/>
            <a:gdLst/>
            <a:ahLst/>
            <a:cxnLst/>
            <a:rect l="l" t="t" r="r" b="b"/>
            <a:pathLst>
              <a:path w="403177" h="403177">
                <a:moveTo>
                  <a:pt x="0" y="0"/>
                </a:moveTo>
                <a:lnTo>
                  <a:pt x="403177" y="0"/>
                </a:lnTo>
                <a:lnTo>
                  <a:pt x="403177" y="403177"/>
                </a:lnTo>
                <a:lnTo>
                  <a:pt x="0" y="40317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TextBox 8"/>
          <p:cNvSpPr txBox="1"/>
          <p:nvPr/>
        </p:nvSpPr>
        <p:spPr>
          <a:xfrm>
            <a:off x="952500" y="1106504"/>
            <a:ext cx="7570624" cy="13964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267"/>
              </a:lnSpc>
            </a:pPr>
            <a:r>
              <a:rPr lang="en-US" sz="11160" b="1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SOLUTION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307866" y="3056549"/>
            <a:ext cx="5965628" cy="8781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70"/>
              </a:lnSpc>
            </a:pPr>
            <a:r>
              <a:rPr lang="en-US" sz="255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Use AI to </a:t>
            </a:r>
            <a:r>
              <a:rPr lang="en-US" sz="2550" b="1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detect vehicles</a:t>
            </a:r>
            <a:r>
              <a:rPr lang="en-US" sz="255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 from </a:t>
            </a:r>
            <a:r>
              <a:rPr lang="en-US" sz="2550" b="1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traffic camera feed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257300" y="4472380"/>
            <a:ext cx="5965628" cy="8633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70"/>
              </a:lnSpc>
            </a:pPr>
            <a:r>
              <a:rPr lang="en-US" sz="255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Count vehicles per lane (North, South, East, West) 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307866" y="5888211"/>
            <a:ext cx="5965628" cy="8781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70"/>
              </a:lnSpc>
            </a:pPr>
            <a:r>
              <a:rPr lang="en-US" sz="255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Adjust green light duration </a:t>
            </a:r>
            <a:r>
              <a:rPr lang="en-US" sz="2550" b="1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based on congestion 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307866" y="7304042"/>
            <a:ext cx="5965628" cy="8633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70"/>
              </a:lnSpc>
            </a:pPr>
            <a:r>
              <a:rPr lang="en-US" sz="255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Simulate traffic lights in Python (console/GUI)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307866" y="8719873"/>
            <a:ext cx="5965628" cy="4305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70"/>
              </a:lnSpc>
            </a:pPr>
            <a:r>
              <a:rPr lang="en-US" sz="2550" b="1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Result</a:t>
            </a:r>
            <a:r>
              <a:rPr lang="en-US" sz="255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: Less waiting, smoother flow</a:t>
            </a:r>
          </a:p>
        </p:txBody>
      </p:sp>
      <p:sp>
        <p:nvSpPr>
          <p:cNvPr id="14" name="Freeform 14"/>
          <p:cNvSpPr/>
          <p:nvPr/>
        </p:nvSpPr>
        <p:spPr>
          <a:xfrm>
            <a:off x="701723" y="6142126"/>
            <a:ext cx="403177" cy="403177"/>
          </a:xfrm>
          <a:custGeom>
            <a:avLst/>
            <a:gdLst/>
            <a:ahLst/>
            <a:cxnLst/>
            <a:rect l="l" t="t" r="r" b="b"/>
            <a:pathLst>
              <a:path w="403177" h="403177">
                <a:moveTo>
                  <a:pt x="0" y="0"/>
                </a:moveTo>
                <a:lnTo>
                  <a:pt x="403177" y="0"/>
                </a:lnTo>
                <a:lnTo>
                  <a:pt x="403177" y="403177"/>
                </a:lnTo>
                <a:lnTo>
                  <a:pt x="0" y="40317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5" name="Freeform 15"/>
          <p:cNvSpPr/>
          <p:nvPr/>
        </p:nvSpPr>
        <p:spPr>
          <a:xfrm>
            <a:off x="750912" y="7440969"/>
            <a:ext cx="403177" cy="403177"/>
          </a:xfrm>
          <a:custGeom>
            <a:avLst/>
            <a:gdLst/>
            <a:ahLst/>
            <a:cxnLst/>
            <a:rect l="l" t="t" r="r" b="b"/>
            <a:pathLst>
              <a:path w="403177" h="403177">
                <a:moveTo>
                  <a:pt x="0" y="0"/>
                </a:moveTo>
                <a:lnTo>
                  <a:pt x="403176" y="0"/>
                </a:lnTo>
                <a:lnTo>
                  <a:pt x="403176" y="403176"/>
                </a:lnTo>
                <a:lnTo>
                  <a:pt x="0" y="40317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Freeform 16"/>
          <p:cNvSpPr/>
          <p:nvPr/>
        </p:nvSpPr>
        <p:spPr>
          <a:xfrm>
            <a:off x="750912" y="8739812"/>
            <a:ext cx="403177" cy="403177"/>
          </a:xfrm>
          <a:custGeom>
            <a:avLst/>
            <a:gdLst/>
            <a:ahLst/>
            <a:cxnLst/>
            <a:rect l="l" t="t" r="r" b="b"/>
            <a:pathLst>
              <a:path w="403177" h="403177">
                <a:moveTo>
                  <a:pt x="0" y="0"/>
                </a:moveTo>
                <a:lnTo>
                  <a:pt x="403176" y="0"/>
                </a:lnTo>
                <a:lnTo>
                  <a:pt x="403176" y="403176"/>
                </a:lnTo>
                <a:lnTo>
                  <a:pt x="0" y="40317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pic>
        <p:nvPicPr>
          <p:cNvPr id="3074" name="Picture 2" descr="Bengaluru AI Traffic Signal Timer: Revolutionizing Urban Traffic Management  - Daten &amp; Wissen">
            <a:extLst>
              <a:ext uri="{FF2B5EF4-FFF2-40B4-BE49-F238E27FC236}">
                <a16:creationId xmlns:a16="http://schemas.microsoft.com/office/drawing/2014/main" id="{05CA741D-58A0-C39D-F3BE-0D932A849B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75524" y="1859086"/>
            <a:ext cx="9477807" cy="6568828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4"/>
          <p:cNvSpPr/>
          <p:nvPr/>
        </p:nvSpPr>
        <p:spPr>
          <a:xfrm>
            <a:off x="952500" y="9531689"/>
            <a:ext cx="173355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Box 5"/>
          <p:cNvSpPr txBox="1"/>
          <p:nvPr/>
        </p:nvSpPr>
        <p:spPr>
          <a:xfrm>
            <a:off x="648918" y="3184273"/>
            <a:ext cx="16667532" cy="5412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66"/>
              </a:lnSpc>
            </a:pPr>
            <a:r>
              <a:rPr lang="en-US" sz="3044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Video Feed → Vehicle Detection → Count Vehicles → Decide Signal Time → Simulate Lights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48918" y="973765"/>
            <a:ext cx="16990165" cy="14921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022"/>
              </a:lnSpc>
            </a:pPr>
            <a:r>
              <a:rPr lang="en-US" sz="11726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WORKFLOW (PIPELINE)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E4395D1-41C6-5699-7DAF-3DDCE87561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5000" y="4123096"/>
            <a:ext cx="13792200" cy="48767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32A6524-4C60-2F11-655C-CD9940F6E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4">
            <a:extLst>
              <a:ext uri="{FF2B5EF4-FFF2-40B4-BE49-F238E27FC236}">
                <a16:creationId xmlns:a16="http://schemas.microsoft.com/office/drawing/2014/main" id="{C1A6A327-3ABB-5B51-8141-6F31B120F469}"/>
              </a:ext>
            </a:extLst>
          </p:cNvPr>
          <p:cNvSpPr/>
          <p:nvPr/>
        </p:nvSpPr>
        <p:spPr>
          <a:xfrm>
            <a:off x="952500" y="9531689"/>
            <a:ext cx="173355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8C473B7A-53CE-973E-1605-49B01298EE45}"/>
              </a:ext>
            </a:extLst>
          </p:cNvPr>
          <p:cNvSpPr txBox="1"/>
          <p:nvPr/>
        </p:nvSpPr>
        <p:spPr>
          <a:xfrm>
            <a:off x="326285" y="266700"/>
            <a:ext cx="16990165" cy="12888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1022"/>
              </a:lnSpc>
            </a:pPr>
            <a:r>
              <a:rPr lang="en-US" sz="7200" b="1" u="sng" dirty="0">
                <a:solidFill>
                  <a:srgbClr val="000000"/>
                </a:solidFill>
                <a:latin typeface="Glacial Indifference Bold"/>
              </a:rPr>
              <a:t>Project Structure — AI Traffic Optimizer</a:t>
            </a:r>
            <a:endParaRPr lang="en-US" sz="7200" b="1" u="sng" dirty="0">
              <a:solidFill>
                <a:srgbClr val="000000"/>
              </a:solidFill>
              <a:latin typeface="Glacial Indifference Bold"/>
              <a:sym typeface="Glacial Indifference Bold"/>
            </a:endParaRPr>
          </a:p>
        </p:txBody>
      </p:sp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B14A4B1-87AB-FCC1-4C03-9CBA9E43ED4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249"/>
          <a:stretch>
            <a:fillRect/>
          </a:stretch>
        </p:blipFill>
        <p:spPr bwMode="auto">
          <a:xfrm>
            <a:off x="1447800" y="1690556"/>
            <a:ext cx="5638800" cy="770609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D5741FD-29E1-9FDB-E607-70EB5E4469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4400" y="1749980"/>
            <a:ext cx="7848600" cy="751163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8917221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854955" flipH="1">
            <a:off x="3208826" y="-5930211"/>
            <a:ext cx="12787517" cy="11860422"/>
          </a:xfrm>
          <a:custGeom>
            <a:avLst/>
            <a:gdLst/>
            <a:ahLst/>
            <a:cxnLst/>
            <a:rect l="l" t="t" r="r" b="b"/>
            <a:pathLst>
              <a:path w="12787517" h="11860422">
                <a:moveTo>
                  <a:pt x="12787517" y="0"/>
                </a:moveTo>
                <a:lnTo>
                  <a:pt x="0" y="0"/>
                </a:lnTo>
                <a:lnTo>
                  <a:pt x="0" y="11860422"/>
                </a:lnTo>
                <a:lnTo>
                  <a:pt x="12787517" y="11860422"/>
                </a:lnTo>
                <a:lnTo>
                  <a:pt x="12787517" y="0"/>
                </a:lnTo>
                <a:close/>
              </a:path>
            </a:pathLst>
          </a:custGeom>
          <a:blipFill>
            <a:blip r:embed="rId2">
              <a:alphaModFix amt="64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 flipH="1">
            <a:off x="-6122810" y="4296456"/>
            <a:ext cx="12787517" cy="11860422"/>
          </a:xfrm>
          <a:custGeom>
            <a:avLst/>
            <a:gdLst/>
            <a:ahLst/>
            <a:cxnLst/>
            <a:rect l="l" t="t" r="r" b="b"/>
            <a:pathLst>
              <a:path w="12787517" h="11860422">
                <a:moveTo>
                  <a:pt x="12787517" y="0"/>
                </a:moveTo>
                <a:lnTo>
                  <a:pt x="0" y="0"/>
                </a:lnTo>
                <a:lnTo>
                  <a:pt x="0" y="11860422"/>
                </a:lnTo>
                <a:lnTo>
                  <a:pt x="12787517" y="11860422"/>
                </a:lnTo>
                <a:lnTo>
                  <a:pt x="12787517" y="0"/>
                </a:lnTo>
                <a:close/>
              </a:path>
            </a:pathLst>
          </a:custGeom>
          <a:blipFill>
            <a:blip r:embed="rId2">
              <a:alphaModFix amt="64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AutoShape 8"/>
          <p:cNvSpPr/>
          <p:nvPr/>
        </p:nvSpPr>
        <p:spPr>
          <a:xfrm>
            <a:off x="990600" y="7658100"/>
            <a:ext cx="0" cy="649224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9" name="Freeform 9"/>
          <p:cNvSpPr/>
          <p:nvPr/>
        </p:nvSpPr>
        <p:spPr>
          <a:xfrm>
            <a:off x="517326" y="3893279"/>
            <a:ext cx="403177" cy="403177"/>
          </a:xfrm>
          <a:custGeom>
            <a:avLst/>
            <a:gdLst/>
            <a:ahLst/>
            <a:cxnLst/>
            <a:rect l="l" t="t" r="r" b="b"/>
            <a:pathLst>
              <a:path w="403177" h="403177">
                <a:moveTo>
                  <a:pt x="0" y="0"/>
                </a:moveTo>
                <a:lnTo>
                  <a:pt x="403177" y="0"/>
                </a:lnTo>
                <a:lnTo>
                  <a:pt x="403177" y="403177"/>
                </a:lnTo>
                <a:lnTo>
                  <a:pt x="0" y="40317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Freeform 10"/>
          <p:cNvSpPr/>
          <p:nvPr/>
        </p:nvSpPr>
        <p:spPr>
          <a:xfrm>
            <a:off x="6507908" y="3893279"/>
            <a:ext cx="403177" cy="403177"/>
          </a:xfrm>
          <a:custGeom>
            <a:avLst/>
            <a:gdLst/>
            <a:ahLst/>
            <a:cxnLst/>
            <a:rect l="l" t="t" r="r" b="b"/>
            <a:pathLst>
              <a:path w="403177" h="403177">
                <a:moveTo>
                  <a:pt x="0" y="0"/>
                </a:moveTo>
                <a:lnTo>
                  <a:pt x="403177" y="0"/>
                </a:lnTo>
                <a:lnTo>
                  <a:pt x="403177" y="403177"/>
                </a:lnTo>
                <a:lnTo>
                  <a:pt x="0" y="40317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1" name="TextBox 11"/>
          <p:cNvSpPr txBox="1"/>
          <p:nvPr/>
        </p:nvSpPr>
        <p:spPr>
          <a:xfrm>
            <a:off x="1028700" y="3833409"/>
            <a:ext cx="4407015" cy="4316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09"/>
              </a:lnSpc>
            </a:pPr>
            <a:r>
              <a:rPr lang="en-US" sz="2506" b="1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Input</a:t>
            </a:r>
            <a:r>
              <a:rPr lang="en-US" sz="2506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: Video or Webcam 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44162" y="1858221"/>
            <a:ext cx="12975321" cy="13931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470"/>
              </a:lnSpc>
            </a:pPr>
            <a:r>
              <a:rPr lang="en-US" sz="10366" b="1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VEHICLE DETECTION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124169" y="5142578"/>
            <a:ext cx="4407015" cy="8697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09"/>
              </a:lnSpc>
            </a:pPr>
            <a:r>
              <a:rPr lang="en-US" sz="2506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Process each frame with </a:t>
            </a:r>
            <a:r>
              <a:rPr lang="en-US" sz="2506" b="1" dirty="0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OpenCV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35627" y="5192840"/>
            <a:ext cx="4407015" cy="4316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09"/>
              </a:lnSpc>
            </a:pPr>
            <a:r>
              <a:rPr lang="en-US" sz="2506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Maintain </a:t>
            </a:r>
            <a:r>
              <a:rPr lang="en-US" sz="2506" b="1" dirty="0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lane-wise</a:t>
            </a:r>
            <a:r>
              <a:rPr lang="en-US" sz="2506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 counters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092071" y="3833409"/>
            <a:ext cx="5452044" cy="8697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09"/>
              </a:lnSpc>
            </a:pPr>
            <a:r>
              <a:rPr lang="en-US" sz="2506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Detect vehicles using </a:t>
            </a:r>
            <a:r>
              <a:rPr lang="en-US" sz="2506" b="1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pre-trained models</a:t>
            </a:r>
          </a:p>
        </p:txBody>
      </p:sp>
      <p:sp>
        <p:nvSpPr>
          <p:cNvPr id="16" name="Freeform 16"/>
          <p:cNvSpPr/>
          <p:nvPr/>
        </p:nvSpPr>
        <p:spPr>
          <a:xfrm>
            <a:off x="525908" y="5142578"/>
            <a:ext cx="403177" cy="403177"/>
          </a:xfrm>
          <a:custGeom>
            <a:avLst/>
            <a:gdLst/>
            <a:ahLst/>
            <a:cxnLst/>
            <a:rect l="l" t="t" r="r" b="b"/>
            <a:pathLst>
              <a:path w="403177" h="403177">
                <a:moveTo>
                  <a:pt x="0" y="0"/>
                </a:moveTo>
                <a:lnTo>
                  <a:pt x="403177" y="0"/>
                </a:lnTo>
                <a:lnTo>
                  <a:pt x="403177" y="403177"/>
                </a:lnTo>
                <a:lnTo>
                  <a:pt x="0" y="40317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7" name="Freeform 17"/>
          <p:cNvSpPr/>
          <p:nvPr/>
        </p:nvSpPr>
        <p:spPr>
          <a:xfrm>
            <a:off x="6507908" y="5143500"/>
            <a:ext cx="403177" cy="403177"/>
          </a:xfrm>
          <a:custGeom>
            <a:avLst/>
            <a:gdLst/>
            <a:ahLst/>
            <a:cxnLst/>
            <a:rect l="l" t="t" r="r" b="b"/>
            <a:pathLst>
              <a:path w="403177" h="403177">
                <a:moveTo>
                  <a:pt x="0" y="0"/>
                </a:moveTo>
                <a:lnTo>
                  <a:pt x="403177" y="0"/>
                </a:lnTo>
                <a:lnTo>
                  <a:pt x="403177" y="403177"/>
                </a:lnTo>
                <a:lnTo>
                  <a:pt x="0" y="40317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4098" name="Picture 2" descr="Using AI and Real-Time Data to Optimize Traffic Flow and Safety - Western  Systems">
            <a:extLst>
              <a:ext uri="{FF2B5EF4-FFF2-40B4-BE49-F238E27FC236}">
                <a16:creationId xmlns:a16="http://schemas.microsoft.com/office/drawing/2014/main" id="{436AD24D-369D-638C-67B1-AC868947073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5771"/>
          <a:stretch>
            <a:fillRect/>
          </a:stretch>
        </p:blipFill>
        <p:spPr bwMode="auto">
          <a:xfrm>
            <a:off x="1259124" y="6591765"/>
            <a:ext cx="10364170" cy="36952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 descr="How AI traffic systems could end congestion forever">
            <a:extLst>
              <a:ext uri="{FF2B5EF4-FFF2-40B4-BE49-F238E27FC236}">
                <a16:creationId xmlns:a16="http://schemas.microsoft.com/office/drawing/2014/main" id="{A65145F9-EE26-F613-B291-40B2392FEB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99373" y="2858510"/>
            <a:ext cx="5776711" cy="6307693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32827" y="978550"/>
            <a:ext cx="8599141" cy="8272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387"/>
              </a:lnSpc>
            </a:pPr>
            <a:r>
              <a:rPr lang="en-US" sz="8417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DECISION LOGIC</a:t>
            </a:r>
          </a:p>
        </p:txBody>
      </p:sp>
      <p:sp>
        <p:nvSpPr>
          <p:cNvPr id="4" name="AutoShape 4"/>
          <p:cNvSpPr/>
          <p:nvPr/>
        </p:nvSpPr>
        <p:spPr>
          <a:xfrm>
            <a:off x="8305800" y="4062610"/>
            <a:ext cx="0" cy="772576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Box 5"/>
          <p:cNvSpPr txBox="1"/>
          <p:nvPr/>
        </p:nvSpPr>
        <p:spPr>
          <a:xfrm>
            <a:off x="114296" y="4492353"/>
            <a:ext cx="8458200" cy="21975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3600" b="1" dirty="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Example</a:t>
            </a:r>
            <a:r>
              <a:rPr lang="en-US" sz="3600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:</a:t>
            </a:r>
          </a:p>
          <a:p>
            <a:pPr algn="l">
              <a:lnSpc>
                <a:spcPts val="3436"/>
              </a:lnSpc>
            </a:pPr>
            <a:endParaRPr lang="en-US" sz="3600" dirty="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706539" lvl="2" algn="l">
              <a:lnSpc>
                <a:spcPts val="3436"/>
              </a:lnSpc>
            </a:pPr>
            <a:r>
              <a:rPr lang="en-US" sz="3600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Lane A → 12 cars → Green 34 sec</a:t>
            </a:r>
          </a:p>
          <a:p>
            <a:pPr marL="706539" lvl="2" algn="l">
              <a:lnSpc>
                <a:spcPts val="3436"/>
              </a:lnSpc>
            </a:pPr>
            <a:endParaRPr lang="en-US" sz="3600" dirty="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706539" lvl="2" algn="l">
              <a:lnSpc>
                <a:spcPts val="3436"/>
              </a:lnSpc>
            </a:pPr>
            <a:r>
              <a:rPr lang="en-US" sz="3600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Lane B → 6 cars → Green 22 sec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60900" y="2099748"/>
            <a:ext cx="2563299" cy="3865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2844"/>
              </a:lnSpc>
            </a:pPr>
            <a:r>
              <a:rPr lang="en-US" sz="3200" b="1" dirty="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Formula: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92348" y="7742963"/>
            <a:ext cx="7010395" cy="4442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3200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More vehicles = longer green signal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60F0CC7-D458-220D-4698-6F1FC5C7F3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3177" y="1957922"/>
            <a:ext cx="12637581" cy="162367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4C9EA85-21B9-5358-76C7-88DC399182DB}"/>
              </a:ext>
            </a:extLst>
          </p:cNvPr>
          <p:cNvSpPr txBox="1"/>
          <p:nvPr/>
        </p:nvSpPr>
        <p:spPr>
          <a:xfrm>
            <a:off x="8763000" y="4263162"/>
            <a:ext cx="6384758" cy="630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just">
              <a:lnSpc>
                <a:spcPct val="115000"/>
              </a:lnSpc>
              <a:spcAft>
                <a:spcPts val="800"/>
              </a:spcAft>
            </a:pPr>
            <a:r>
              <a:rPr lang="en-US" sz="3200" b="1" u="sng" kern="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Pseudocode for controller</a:t>
            </a:r>
            <a:r>
              <a:rPr lang="en-US" sz="3200" u="sng" kern="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endParaRPr lang="en-US" sz="2800" u="sng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1" name="Picture 10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4987ED21-94BB-E7EE-A561-49EC362373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914" y="5417012"/>
            <a:ext cx="8871276" cy="44508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6" name="Picture 6" descr="Smart Control of Traffic Light System using Artificial Intelligence">
            <a:extLst>
              <a:ext uri="{FF2B5EF4-FFF2-40B4-BE49-F238E27FC236}">
                <a16:creationId xmlns:a16="http://schemas.microsoft.com/office/drawing/2014/main" id="{4C9255AA-57C1-D00E-D88E-7B1D37DAAC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52070" y="3663652"/>
            <a:ext cx="7688130" cy="5766098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4"/>
          <p:cNvSpPr txBox="1"/>
          <p:nvPr/>
        </p:nvSpPr>
        <p:spPr>
          <a:xfrm>
            <a:off x="2446354" y="877764"/>
            <a:ext cx="11357396" cy="11992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782"/>
              </a:lnSpc>
            </a:pPr>
            <a:r>
              <a:rPr lang="en-US" sz="12159" b="1" dirty="0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 SIMULATION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447800" y="2781300"/>
            <a:ext cx="5804229" cy="9675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907"/>
              </a:lnSpc>
            </a:pPr>
            <a:r>
              <a:rPr lang="en-US" sz="2605" b="1" dirty="0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Option 1: </a:t>
            </a:r>
            <a:r>
              <a:rPr lang="en-US" sz="2605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Console output</a:t>
            </a:r>
          </a:p>
          <a:p>
            <a:pPr marL="1124980" lvl="2" indent="-374993" algn="just">
              <a:lnSpc>
                <a:spcPts val="3907"/>
              </a:lnSpc>
              <a:buFont typeface="Arial"/>
              <a:buChar char="⚬"/>
            </a:pPr>
            <a:r>
              <a:rPr lang="en-US" sz="2605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“Lane A → GREEN for 34s”</a:t>
            </a:r>
          </a:p>
        </p:txBody>
      </p:sp>
      <p:sp>
        <p:nvSpPr>
          <p:cNvPr id="6" name="AutoShape 6"/>
          <p:cNvSpPr/>
          <p:nvPr/>
        </p:nvSpPr>
        <p:spPr>
          <a:xfrm flipH="1">
            <a:off x="-78740" y="9429750"/>
            <a:ext cx="17415221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7" name="Freeform 7"/>
          <p:cNvSpPr/>
          <p:nvPr/>
        </p:nvSpPr>
        <p:spPr>
          <a:xfrm rot="-1624731" flipH="1">
            <a:off x="6127931" y="-5987185"/>
            <a:ext cx="10516389" cy="9753951"/>
          </a:xfrm>
          <a:custGeom>
            <a:avLst/>
            <a:gdLst/>
            <a:ahLst/>
            <a:cxnLst/>
            <a:rect l="l" t="t" r="r" b="b"/>
            <a:pathLst>
              <a:path w="10516389" h="9753951">
                <a:moveTo>
                  <a:pt x="10516389" y="0"/>
                </a:moveTo>
                <a:lnTo>
                  <a:pt x="0" y="0"/>
                </a:lnTo>
                <a:lnTo>
                  <a:pt x="0" y="9753951"/>
                </a:lnTo>
                <a:lnTo>
                  <a:pt x="10516389" y="9753951"/>
                </a:lnTo>
                <a:lnTo>
                  <a:pt x="10516389" y="0"/>
                </a:lnTo>
                <a:close/>
              </a:path>
            </a:pathLst>
          </a:custGeom>
          <a:blipFill>
            <a:blip r:embed="rId3">
              <a:alphaModFix amt="64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Freeform 8"/>
          <p:cNvSpPr/>
          <p:nvPr/>
        </p:nvSpPr>
        <p:spPr>
          <a:xfrm rot="-1624731" flipH="1">
            <a:off x="-4833566" y="4241450"/>
            <a:ext cx="11187709" cy="10376600"/>
          </a:xfrm>
          <a:custGeom>
            <a:avLst/>
            <a:gdLst/>
            <a:ahLst/>
            <a:cxnLst/>
            <a:rect l="l" t="t" r="r" b="b"/>
            <a:pathLst>
              <a:path w="11187709" h="10376600">
                <a:moveTo>
                  <a:pt x="11187710" y="0"/>
                </a:moveTo>
                <a:lnTo>
                  <a:pt x="0" y="0"/>
                </a:lnTo>
                <a:lnTo>
                  <a:pt x="0" y="10376600"/>
                </a:lnTo>
                <a:lnTo>
                  <a:pt x="11187710" y="10376600"/>
                </a:lnTo>
                <a:lnTo>
                  <a:pt x="11187710" y="0"/>
                </a:lnTo>
                <a:close/>
              </a:path>
            </a:pathLst>
          </a:custGeom>
          <a:blipFill>
            <a:blip r:embed="rId3">
              <a:alphaModFix amt="64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TextBox 9"/>
          <p:cNvSpPr txBox="1"/>
          <p:nvPr/>
        </p:nvSpPr>
        <p:spPr>
          <a:xfrm>
            <a:off x="9677400" y="2516186"/>
            <a:ext cx="5804229" cy="14628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907"/>
              </a:lnSpc>
            </a:pPr>
            <a:r>
              <a:rPr lang="en-US" sz="2605" b="1" dirty="0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Option 2:</a:t>
            </a:r>
            <a:r>
              <a:rPr lang="en-US" sz="2605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 GUI (</a:t>
            </a:r>
            <a:r>
              <a:rPr lang="en-US" sz="2605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Tkinter</a:t>
            </a:r>
            <a:r>
              <a:rPr lang="en-US" sz="2605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/</a:t>
            </a:r>
            <a:r>
              <a:rPr lang="en-US" sz="2605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Pygame</a:t>
            </a:r>
            <a:r>
              <a:rPr lang="en-US" sz="2605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)</a:t>
            </a:r>
          </a:p>
          <a:p>
            <a:pPr marL="562490" lvl="1" indent="-281245" algn="just">
              <a:lnSpc>
                <a:spcPts val="3907"/>
              </a:lnSpc>
              <a:buFont typeface="Arial"/>
              <a:buChar char="•"/>
            </a:pPr>
            <a:r>
              <a:rPr lang="en-US" sz="2605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Colored circles (RED/GREEN)</a:t>
            </a:r>
          </a:p>
          <a:p>
            <a:pPr marL="562490" lvl="1" indent="-281245" algn="just">
              <a:lnSpc>
                <a:spcPts val="3907"/>
              </a:lnSpc>
              <a:buFont typeface="Arial"/>
              <a:buChar char="•"/>
            </a:pPr>
            <a:r>
              <a:rPr lang="en-US" sz="2605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Timer-based switching</a:t>
            </a:r>
          </a:p>
        </p:txBody>
      </p:sp>
      <p:pic>
        <p:nvPicPr>
          <p:cNvPr id="5122" name="Picture 2" descr="Traffic signal optimization on a square lattice with quantum annealing |  Scientific Reports">
            <a:extLst>
              <a:ext uri="{FF2B5EF4-FFF2-40B4-BE49-F238E27FC236}">
                <a16:creationId xmlns:a16="http://schemas.microsoft.com/office/drawing/2014/main" id="{5CF1C41A-08A2-FBFC-5165-4B943072A9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8600" y="4762500"/>
            <a:ext cx="7342460" cy="4082138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 descr="Parquery helps control adaptive traffic signals with Artificial Intelligence">
            <a:extLst>
              <a:ext uri="{FF2B5EF4-FFF2-40B4-BE49-F238E27FC236}">
                <a16:creationId xmlns:a16="http://schemas.microsoft.com/office/drawing/2014/main" id="{A7D7DA93-BBB7-9249-E1D8-6039671CFD6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721" b="20396"/>
          <a:stretch>
            <a:fillRect/>
          </a:stretch>
        </p:blipFill>
        <p:spPr bwMode="auto">
          <a:xfrm>
            <a:off x="-43760" y="0"/>
            <a:ext cx="18484160" cy="4656318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4"/>
          <p:cNvSpPr txBox="1"/>
          <p:nvPr/>
        </p:nvSpPr>
        <p:spPr>
          <a:xfrm>
            <a:off x="2782662" y="5287807"/>
            <a:ext cx="7548098" cy="11992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782"/>
              </a:lnSpc>
            </a:pPr>
            <a:r>
              <a:rPr lang="en-US" sz="12159" b="1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 RESULT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298520" y="6806915"/>
            <a:ext cx="5804229" cy="472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907"/>
              </a:lnSpc>
            </a:pPr>
            <a:r>
              <a:rPr lang="en-US" sz="2605" b="1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Dynamic signals</a:t>
            </a:r>
            <a:r>
              <a:rPr lang="en-US" sz="2605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 adjust in real-time </a:t>
            </a:r>
          </a:p>
        </p:txBody>
      </p:sp>
      <p:sp>
        <p:nvSpPr>
          <p:cNvPr id="6" name="AutoShape 6"/>
          <p:cNvSpPr/>
          <p:nvPr/>
        </p:nvSpPr>
        <p:spPr>
          <a:xfrm flipH="1">
            <a:off x="-78740" y="9429750"/>
            <a:ext cx="17415221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7" name="Freeform 7"/>
          <p:cNvSpPr/>
          <p:nvPr/>
        </p:nvSpPr>
        <p:spPr>
          <a:xfrm rot="-1624731" flipH="1">
            <a:off x="5682280" y="-4333804"/>
            <a:ext cx="10516389" cy="9753951"/>
          </a:xfrm>
          <a:custGeom>
            <a:avLst/>
            <a:gdLst/>
            <a:ahLst/>
            <a:cxnLst/>
            <a:rect l="l" t="t" r="r" b="b"/>
            <a:pathLst>
              <a:path w="10516389" h="9753951">
                <a:moveTo>
                  <a:pt x="10516389" y="0"/>
                </a:moveTo>
                <a:lnTo>
                  <a:pt x="0" y="0"/>
                </a:lnTo>
                <a:lnTo>
                  <a:pt x="0" y="9753951"/>
                </a:lnTo>
                <a:lnTo>
                  <a:pt x="10516389" y="9753951"/>
                </a:lnTo>
                <a:lnTo>
                  <a:pt x="10516389" y="0"/>
                </a:lnTo>
                <a:close/>
              </a:path>
            </a:pathLst>
          </a:custGeom>
          <a:blipFill>
            <a:blip r:embed="rId3">
              <a:alphaModFix amt="64000"/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8" name="Freeform 8"/>
          <p:cNvSpPr/>
          <p:nvPr/>
        </p:nvSpPr>
        <p:spPr>
          <a:xfrm rot="-1624731" flipH="1">
            <a:off x="-4833566" y="4295423"/>
            <a:ext cx="11187709" cy="10376600"/>
          </a:xfrm>
          <a:custGeom>
            <a:avLst/>
            <a:gdLst/>
            <a:ahLst/>
            <a:cxnLst/>
            <a:rect l="l" t="t" r="r" b="b"/>
            <a:pathLst>
              <a:path w="11187709" h="10376600">
                <a:moveTo>
                  <a:pt x="11187710" y="0"/>
                </a:moveTo>
                <a:lnTo>
                  <a:pt x="0" y="0"/>
                </a:lnTo>
                <a:lnTo>
                  <a:pt x="0" y="10376600"/>
                </a:lnTo>
                <a:lnTo>
                  <a:pt x="11187710" y="10376600"/>
                </a:lnTo>
                <a:lnTo>
                  <a:pt x="11187710" y="0"/>
                </a:lnTo>
                <a:close/>
              </a:path>
            </a:pathLst>
          </a:custGeom>
          <a:blipFill>
            <a:blip r:embed="rId3">
              <a:alphaModFix amt="64000"/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9" name="TextBox 9"/>
          <p:cNvSpPr txBox="1"/>
          <p:nvPr/>
        </p:nvSpPr>
        <p:spPr>
          <a:xfrm>
            <a:off x="2298520" y="8070707"/>
            <a:ext cx="5804229" cy="472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907"/>
              </a:lnSpc>
            </a:pPr>
            <a:r>
              <a:rPr lang="en-US" sz="2605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Fully simulated cycle for demo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330761" y="8070707"/>
            <a:ext cx="5804229" cy="472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907"/>
              </a:lnSpc>
            </a:pPr>
            <a:r>
              <a:rPr lang="en-US" sz="2605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Efficient </a:t>
            </a:r>
            <a:r>
              <a:rPr lang="en-US" sz="2605" b="1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traffic flow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0330761" y="6806915"/>
            <a:ext cx="5804229" cy="472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907"/>
              </a:lnSpc>
            </a:pPr>
            <a:r>
              <a:rPr lang="en-US" sz="2605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Reduced </a:t>
            </a:r>
            <a:r>
              <a:rPr lang="en-US" sz="2605" b="1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waiting</a:t>
            </a:r>
            <a:r>
              <a:rPr lang="en-US" sz="2605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 time 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-1743887" y="746642"/>
            <a:ext cx="12787517" cy="11860422"/>
          </a:xfrm>
          <a:custGeom>
            <a:avLst/>
            <a:gdLst/>
            <a:ahLst/>
            <a:cxnLst/>
            <a:rect l="l" t="t" r="r" b="b"/>
            <a:pathLst>
              <a:path w="12787517" h="11860422">
                <a:moveTo>
                  <a:pt x="12787517" y="0"/>
                </a:moveTo>
                <a:lnTo>
                  <a:pt x="0" y="0"/>
                </a:lnTo>
                <a:lnTo>
                  <a:pt x="0" y="11860422"/>
                </a:lnTo>
                <a:lnTo>
                  <a:pt x="12787517" y="11860422"/>
                </a:lnTo>
                <a:lnTo>
                  <a:pt x="12787517" y="0"/>
                </a:lnTo>
                <a:close/>
              </a:path>
            </a:pathLst>
          </a:custGeom>
          <a:blipFill>
            <a:blip r:embed="rId2">
              <a:alphaModFix amt="64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 rot="9004115" flipH="1">
            <a:off x="11202415" y="-1669532"/>
            <a:ext cx="10120745" cy="9386991"/>
          </a:xfrm>
          <a:custGeom>
            <a:avLst/>
            <a:gdLst/>
            <a:ahLst/>
            <a:cxnLst/>
            <a:rect l="l" t="t" r="r" b="b"/>
            <a:pathLst>
              <a:path w="10120745" h="9386991">
                <a:moveTo>
                  <a:pt x="10120745" y="0"/>
                </a:moveTo>
                <a:lnTo>
                  <a:pt x="0" y="0"/>
                </a:lnTo>
                <a:lnTo>
                  <a:pt x="0" y="9386991"/>
                </a:lnTo>
                <a:lnTo>
                  <a:pt x="10120745" y="9386991"/>
                </a:lnTo>
                <a:lnTo>
                  <a:pt x="10120745" y="0"/>
                </a:lnTo>
                <a:close/>
              </a:path>
            </a:pathLst>
          </a:custGeom>
          <a:blipFill>
            <a:blip r:embed="rId2">
              <a:alphaModFix amt="64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aphicFrame>
        <p:nvGraphicFramePr>
          <p:cNvPr id="4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1120608"/>
              </p:ext>
            </p:extLst>
          </p:nvPr>
        </p:nvGraphicFramePr>
        <p:xfrm>
          <a:off x="1979638" y="3086335"/>
          <a:ext cx="13260362" cy="6019565"/>
        </p:xfrm>
        <a:graphic>
          <a:graphicData uri="http://schemas.openxmlformats.org/drawingml/2006/table">
            <a:tbl>
              <a:tblPr/>
              <a:tblGrid>
                <a:gridCol w="38641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961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00864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377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692" b="1" u="none" strike="noStrike">
                          <a:solidFill>
                            <a:srgbClr val="FFFFFF"/>
                          </a:solidFill>
                          <a:latin typeface="DM Sans Bold"/>
                          <a:ea typeface="DM Sans Bold"/>
                          <a:cs typeface="DM Sans Bold"/>
                          <a:sym typeface="DM Sans Bold"/>
                        </a:rPr>
                        <a:t>Role 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377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692" b="1" u="none" strike="noStrike">
                          <a:solidFill>
                            <a:srgbClr val="FFFFFF"/>
                          </a:solidFill>
                          <a:latin typeface="DM Sans Bold"/>
                          <a:ea typeface="DM Sans Bold"/>
                          <a:cs typeface="DM Sans Bold"/>
                          <a:sym typeface="DM Sans Bold"/>
                        </a:rPr>
                        <a:t>Task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39587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335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392" b="1" u="none" strike="noStrike">
                          <a:solidFill>
                            <a:srgbClr val="FFFFFF"/>
                          </a:solidFill>
                          <a:latin typeface="DM Sans Bold"/>
                          <a:ea typeface="DM Sans Bold"/>
                          <a:cs typeface="DM Sans Bold"/>
                          <a:sym typeface="DM Sans Bold"/>
                        </a:rPr>
                        <a:t>Vision Lead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335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392" u="none" strike="noStrike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Input video + detection pipeline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39587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335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392" b="1" u="none" strike="noStrike">
                          <a:solidFill>
                            <a:srgbClr val="FFFFFF"/>
                          </a:solidFill>
                          <a:latin typeface="DM Sans Bold"/>
                          <a:ea typeface="DM Sans Bold"/>
                          <a:cs typeface="DM Sans Bold"/>
                          <a:sym typeface="DM Sans Bold"/>
                        </a:rPr>
                        <a:t>Counting Logic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335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392" u="none" strike="noStrike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Lane-wise vehicle counting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00394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335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392" b="1" u="none" strike="noStrike" dirty="0">
                          <a:solidFill>
                            <a:srgbClr val="FFFFFF"/>
                          </a:solidFill>
                          <a:latin typeface="DM Sans Bold"/>
                          <a:ea typeface="DM Sans Bold"/>
                          <a:cs typeface="DM Sans Bold"/>
                          <a:sym typeface="DM Sans Bold"/>
                        </a:rPr>
                        <a:t>Signal Control</a:t>
                      </a:r>
                      <a:endParaRPr lang="en-US" sz="1100" dirty="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335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392" u="none" strike="noStrike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Timing formula + decision logic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46353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335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392" b="1" u="none" strike="noStrike">
                          <a:solidFill>
                            <a:srgbClr val="FFFFFF"/>
                          </a:solidFill>
                          <a:latin typeface="DM Sans Bold"/>
                          <a:ea typeface="DM Sans Bold"/>
                          <a:cs typeface="DM Sans Bold"/>
                          <a:sym typeface="DM Sans Bold"/>
                        </a:rPr>
                        <a:t>UI Developer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335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392" u="none" strike="noStrike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Simulation GUI (Tkinter/Pygame)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92780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335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392" b="1" u="none" strike="noStrike">
                          <a:solidFill>
                            <a:srgbClr val="FFFFFF"/>
                          </a:solidFill>
                          <a:latin typeface="DM Sans Bold"/>
                          <a:ea typeface="DM Sans Bold"/>
                          <a:cs typeface="DM Sans Bold"/>
                          <a:sym typeface="DM Sans Bold"/>
                        </a:rPr>
                        <a:t>Integration &amp; Docs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335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392" u="none" strike="noStrike" dirty="0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Connect modules + presentation</a:t>
                      </a:r>
                      <a:endParaRPr lang="en-US" sz="1100" dirty="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5"/>
          <p:cNvSpPr txBox="1"/>
          <p:nvPr/>
        </p:nvSpPr>
        <p:spPr>
          <a:xfrm>
            <a:off x="1828800" y="206979"/>
            <a:ext cx="8534400" cy="19300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6447"/>
              </a:lnSpc>
            </a:pPr>
            <a:r>
              <a:rPr lang="en-US" sz="11000" b="1" dirty="0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TEAM ROLE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-2468665" y="927568"/>
            <a:ext cx="12787517" cy="11860422"/>
          </a:xfrm>
          <a:custGeom>
            <a:avLst/>
            <a:gdLst/>
            <a:ahLst/>
            <a:cxnLst/>
            <a:rect l="l" t="t" r="r" b="b"/>
            <a:pathLst>
              <a:path w="12787517" h="11860422">
                <a:moveTo>
                  <a:pt x="12787518" y="0"/>
                </a:moveTo>
                <a:lnTo>
                  <a:pt x="0" y="0"/>
                </a:lnTo>
                <a:lnTo>
                  <a:pt x="0" y="11860422"/>
                </a:lnTo>
                <a:lnTo>
                  <a:pt x="12787518" y="11860422"/>
                </a:lnTo>
                <a:lnTo>
                  <a:pt x="12787518" y="0"/>
                </a:lnTo>
                <a:close/>
              </a:path>
            </a:pathLst>
          </a:custGeom>
          <a:blipFill>
            <a:blip r:embed="rId2">
              <a:alphaModFix amt="64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 rot="9004115" flipH="1">
            <a:off x="8088925" y="-4609074"/>
            <a:ext cx="10120745" cy="9386991"/>
          </a:xfrm>
          <a:custGeom>
            <a:avLst/>
            <a:gdLst/>
            <a:ahLst/>
            <a:cxnLst/>
            <a:rect l="l" t="t" r="r" b="b"/>
            <a:pathLst>
              <a:path w="10120745" h="9386991">
                <a:moveTo>
                  <a:pt x="10120745" y="0"/>
                </a:moveTo>
                <a:lnTo>
                  <a:pt x="0" y="0"/>
                </a:lnTo>
                <a:lnTo>
                  <a:pt x="0" y="9386991"/>
                </a:lnTo>
                <a:lnTo>
                  <a:pt x="10120745" y="9386991"/>
                </a:lnTo>
                <a:lnTo>
                  <a:pt x="10120745" y="0"/>
                </a:lnTo>
                <a:close/>
              </a:path>
            </a:pathLst>
          </a:custGeom>
          <a:blipFill>
            <a:blip r:embed="rId2">
              <a:alphaModFix amt="64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TextBox 4"/>
          <p:cNvSpPr txBox="1"/>
          <p:nvPr/>
        </p:nvSpPr>
        <p:spPr>
          <a:xfrm>
            <a:off x="261101" y="1025110"/>
            <a:ext cx="15420656" cy="19281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925"/>
              </a:lnSpc>
            </a:pPr>
            <a:r>
              <a:rPr lang="en-US" sz="16005" b="1" dirty="0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FUTURE SCOP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59075" y="4224385"/>
            <a:ext cx="10240827" cy="621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175"/>
              </a:lnSpc>
            </a:pPr>
            <a:r>
              <a:rPr lang="en-US" sz="3450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Real-time deployment with </a:t>
            </a:r>
            <a:r>
              <a:rPr lang="en-US" sz="3450" b="1" dirty="0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CCTV </a:t>
            </a:r>
            <a:r>
              <a:rPr lang="en-US" sz="3450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feeds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59075" y="7879243"/>
            <a:ext cx="8568498" cy="6210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175"/>
              </a:lnSpc>
            </a:pPr>
            <a:r>
              <a:rPr lang="en-US" sz="3450" b="1" dirty="0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Data logging </a:t>
            </a:r>
            <a:r>
              <a:rPr lang="en-US" sz="3450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for traffic analytic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22980" y="6694900"/>
            <a:ext cx="11029372" cy="6210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175"/>
              </a:lnSpc>
            </a:pPr>
            <a:r>
              <a:rPr lang="en-US" sz="3450" b="1" dirty="0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Emergency vehicle</a:t>
            </a:r>
            <a:r>
              <a:rPr lang="en-US" sz="3450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 priority (ambulance/fire trucks)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59075" y="5459641"/>
            <a:ext cx="8315668" cy="6210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175"/>
              </a:lnSpc>
            </a:pPr>
            <a:r>
              <a:rPr lang="en-US" sz="3450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Integration with </a:t>
            </a:r>
            <a:r>
              <a:rPr lang="en-US" sz="3450" b="1" dirty="0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city traffic system</a:t>
            </a:r>
          </a:p>
        </p:txBody>
      </p:sp>
      <p:pic>
        <p:nvPicPr>
          <p:cNvPr id="7170" name="Picture 2" descr="Enabling an Intelligent Traffic Management System Using Corazon-AI - iWave  Systems">
            <a:extLst>
              <a:ext uri="{FF2B5EF4-FFF2-40B4-BE49-F238E27FC236}">
                <a16:creationId xmlns:a16="http://schemas.microsoft.com/office/drawing/2014/main" id="{839C9AED-58DF-F6B9-A3A5-0AAEC6B2E1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77118" y="3390900"/>
            <a:ext cx="6539742" cy="57218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51</TotalTime>
  <Words>427</Words>
  <Application>Microsoft Office PowerPoint</Application>
  <PresentationFormat>Custom</PresentationFormat>
  <Paragraphs>75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Aptos</vt:lpstr>
      <vt:lpstr>DM Sans Bold</vt:lpstr>
      <vt:lpstr>DM Sans</vt:lpstr>
      <vt:lpstr>Calibri</vt:lpstr>
      <vt:lpstr>Glacial Indifference Bold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Traffic Light Optimizer</dc:title>
  <cp:lastModifiedBy>Shivam paliwal</cp:lastModifiedBy>
  <cp:revision>4</cp:revision>
  <dcterms:created xsi:type="dcterms:W3CDTF">2006-08-16T00:00:00Z</dcterms:created>
  <dcterms:modified xsi:type="dcterms:W3CDTF">2025-10-03T05:11:19Z</dcterms:modified>
  <dc:identifier>DAG0j8pRFoo</dc:identifier>
</cp:coreProperties>
</file>